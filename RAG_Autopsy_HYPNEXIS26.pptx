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27ABEB2-E2D6-8B5D-8C43-AD515931FF97}">
          <p14:sldIdLst>
            <p14:sldId id="256"/>
          </p14:sldIdLst>
        </p14:section>
        <p14:section name="Idea" id="{424F8A36-ACCB-3397-0AAB-0CB2C4908326}">
          <p14:sldIdLst>
            <p14:sldId id="257"/>
          </p14:sldIdLst>
        </p14:section>
        <p14:section name="Approach" id="{31124DFC-E20C-1ED4-B375-D41F266F42FE}">
          <p14:sldIdLst>
            <p14:sldId id="258"/>
            <p14:sldId id="259"/>
          </p14:sldIdLst>
        </p14:section>
        <p14:section name="Viability" id="{91BE2AC3-B619-7C48-B042-EB8D0232F76A}">
          <p14:sldIdLst>
            <p14:sldId id="260"/>
          </p14:sldIdLst>
        </p14:section>
        <p14:section name="Impact" id="{29995A27-38EA-056E-F972-2E7A1F9285D6}">
          <p14:sldIdLst>
            <p14:sldId id="261"/>
          </p14:sldIdLst>
        </p14:section>
        <p14:section name="Business" id="{F0599801-3B2B-D390-1AF0-755D83C156EC}">
          <p14:sldIdLst>
            <p14:sldId id="262"/>
          </p14:sldIdLst>
        </p14:section>
        <p14:section name="References" id="{15A8586F-328A-E5D8-5F10-90FA2904D36E}">
          <p14:sldIdLst>
            <p14:sldId id="263"/>
          </p14:sldIdLst>
        </p14:section>
        <p14:section name="Close" id="{01F624A0-4E19-FB90-EA64-AC0AB7BE0E6F}">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2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5588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took AI-04, the RAG evaluation pipeline. Our project is called ARENA, Automated Retrieval &amp; Evaluation Nexus Architecture: instead of giving a RAG system a score, it finds out why each wrong answer is wrong, proves it, and tests the fix.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when a RAG answer is wrong there are three different root causes, and today's tools only give you a score. Our solution generates test questions from your own documents, keeps the exact gold sentence for each, and diagnoses every failure. The key idea is the counterfactual at the bottom right: same model, same question, but we hand it only the gold chunk. If it now answers correctly, retrieval failed. That is proof, not a judge's opinion.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stages. Ingest and index the documents. Generate a test set where every question carries its gold evidence. Run the RAG under test, always keeping the top 50 ranked chunks so we can see where the right chunk landed. Then the cascade: cheap local models first, an LLM judge only if they can't decide, and the counterfactual only when still contested. A weighted vote gives the root cause and confidence, and each cause maps to a config fix we re-test automatically.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Users upload their own documents right on the live site, or try the demo corpus. The upload step confirms each file and shows live progress while questions are written. One screen. The top row is the health of the RAG with confidence intervals. Pick a failure on the left and you get its autopsy: the answer coloured sentence by sentence, the ranked chunks with the gold one outlined, every lens's vote, and the counterfactual proof. The flow is three steps: documents in, evaluation run, apply the fix.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 is deployed: the dashboard runs on Vercel and visitors can upload their own documents, which go through a secure tunnel to our backend, with limits that protect the API quota. It already works end to end on a CPU laptop with free-tier APIs. The cascade keeps cost low: 0.36 LLM calls per question, and caching makes re-runs free. Main risks are rate limits, judge bias and imperfect generated questions, and each has a mitigation built 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Socially, fewer confident wrong answers in chatbots people rely on. Environmentally, most checks run on small local models and nothing is computed twice. Technically, the fix loop is measurable: 10 of 12 failures fixed, none broken. Educationally, it makes RAG failures visible and explainable.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Users are teams shipping RAG products. The model is open core: free self-hosted tool, a paid hosted version with CI gates and team dashboards, and an enterprise on-prem tier. The long-term play is becoming the regression test every RAG change has to pass before deploy.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core building blocks and the research they come from.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The live demo is at rag-autopsy.vercel.app (scan the QR code), and the code, with a full README and architecture diagram, is on GitHub at github.com/GargeeTripathi/rag-autopsy (second QR code).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YPNEXIS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YPNEXIS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white.png"/>
          <p:cNvPicPr>
            <a:picLocks noChangeAspect="1"/>
          </p:cNvPicPr>
          <p:nvPr/>
        </p:nvPicPr>
        <p:blipFill>
          <a:blip r:embed="rId3"/>
          <a:stretch>
            <a:fillRect/>
          </a:stretch>
        </p:blipFill>
        <p:spPr>
          <a:xfrm>
            <a:off x="457200" y="292608"/>
            <a:ext cx="1105163" cy="502920"/>
          </a:xfrm>
          <a:prstGeom prst="rect">
            <a:avLst/>
          </a:prstGeom>
        </p:spPr>
      </p:pic>
      <p:sp>
        <p:nvSpPr>
          <p:cNvPr id="3" name="Text 0"/>
          <p:cNvSpPr/>
          <p:nvPr/>
        </p:nvSpPr>
        <p:spPr>
          <a:xfrm>
            <a:off x="2926080" y="365760"/>
            <a:ext cx="8778240" cy="365760"/>
          </a:xfrm>
          <a:prstGeom prst="rect">
            <a:avLst/>
          </a:prstGeom>
          <a:noFill/>
          <a:ln/>
        </p:spPr>
        <p:txBody>
          <a:bodyPr wrap="square" lIns="0" tIns="0" rIns="0" bIns="0" rtlCol="0" anchor="ctr"/>
          <a:lstStyle/>
          <a:p>
            <a:pPr marL="0" indent="0" algn="r">
              <a:buNone/>
            </a:pPr>
            <a:r>
              <a:rPr lang="en-US" sz="1100" kern="0" spc="300" dirty="0">
                <a:solidFill>
                  <a:srgbClr val="9CC4FF"/>
                </a:solidFill>
                <a:latin typeface="Arial" pitchFamily="34" charset="0"/>
                <a:ea typeface="Arial" pitchFamily="34" charset="-122"/>
                <a:cs typeface="Arial" pitchFamily="34" charset="-120"/>
              </a:rPr>
              <a:t>36-HOUR HACKATHON  |  24–25 OCTOBER 2026  |  MANIPAL UNIVERSITY JAIPUR</a:t>
            </a:r>
            <a:endParaRPr lang="en-US" sz="1100" dirty="0"/>
          </a:p>
        </p:txBody>
      </p:sp>
      <p:sp>
        <p:nvSpPr>
          <p:cNvPr id="4" name="Shape 1"/>
          <p:cNvSpPr/>
          <p:nvPr/>
        </p:nvSpPr>
        <p:spPr>
          <a:xfrm>
            <a:off x="457200" y="6355080"/>
            <a:ext cx="11274552" cy="9144"/>
          </a:xfrm>
          <a:prstGeom prst="rect">
            <a:avLst/>
          </a:prstGeom>
          <a:solidFill>
            <a:srgbClr val="1E5BFF">
              <a:alpha val="50000"/>
            </a:srgbClr>
          </a:solidFill>
          <a:ln/>
        </p:spPr>
      </p:sp>
      <p:sp>
        <p:nvSpPr>
          <p:cNvPr id="5" name="Text 2"/>
          <p:cNvSpPr/>
          <p:nvPr/>
        </p:nvSpPr>
        <p:spPr>
          <a:xfrm>
            <a:off x="457200" y="6428232"/>
            <a:ext cx="8229600" cy="274320"/>
          </a:xfrm>
          <a:prstGeom prst="rect">
            <a:avLst/>
          </a:prstGeom>
          <a:noFill/>
          <a:ln/>
        </p:spPr>
        <p:txBody>
          <a:bodyPr wrap="square" lIns="0" tIns="0" rIns="0" bIns="0" rtlCol="0" anchor="ctr"/>
          <a:lstStyle/>
          <a:p>
            <a:pPr marL="0" indent="0">
              <a:buNone/>
            </a:pPr>
            <a:r>
              <a:rPr lang="en-US" sz="1000" dirty="0">
                <a:solidFill>
                  <a:srgbClr val="9CC4FF"/>
                </a:solidFill>
                <a:latin typeface="Calibri" pitchFamily="34" charset="0"/>
                <a:ea typeface="Calibri" pitchFamily="34" charset="-122"/>
                <a:cs typeface="Calibri" pitchFamily="34" charset="-120"/>
              </a:rPr>
              <a:t>Department of Computer and Communications Engineering  •  Manipal University Jaipur</a:t>
            </a:r>
            <a:endParaRPr lang="en-US" sz="1000" dirty="0"/>
          </a:p>
        </p:txBody>
      </p:sp>
      <p:sp>
        <p:nvSpPr>
          <p:cNvPr id="25" name="Slide Number Placeholder 0"/>
          <p:cNvSpPr>
            <a:spLocks noGrp="1"/>
          </p:cNvSpPr>
          <p:nvPr>
            <p:ph type="sldNum" sz="quarter" idx="4294967295"/>
          </p:nvPr>
        </p:nvSpPr>
        <p:spPr>
          <a:xfrm>
            <a:off x="1115568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C4FF"/>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YPNEXIS_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white.png"/>
          <p:cNvPicPr>
            <a:picLocks noChangeAspect="1"/>
          </p:cNvPicPr>
          <p:nvPr/>
        </p:nvPicPr>
        <p:blipFill>
          <a:blip r:embed="rId3"/>
          <a:stretch>
            <a:fillRect/>
          </a:stretch>
        </p:blipFill>
        <p:spPr>
          <a:xfrm>
            <a:off x="457200" y="292608"/>
            <a:ext cx="1005840" cy="4572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C4FF"/>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s://rag-autopsy.vercel.ap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hyperlink" Target="https://rag-autopsy.vercel.app" TargetMode="External"/><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hyperlink" Target="https://rag-autopsy.vercel.app" TargetMode="External"/><Relationship Id="rId5" Type="http://schemas.openxmlformats.org/officeDocument/2006/relationships/hyperlink" Target="https://github.com/GargeeTripathi/rag-autopsy" TargetMode="External"/><Relationship Id="rId6" Type="http://schemas.openxmlformats.org/officeDocument/2006/relationships/image" Target="../media/image7.png"/><Relationship Id="rId7"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65760"/>
            <a:ext cx="6400800" cy="320040"/>
          </a:xfrm>
          <a:prstGeom prst="rect">
            <a:avLst/>
          </a:prstGeom>
          <a:noFill/>
          <a:ln/>
        </p:spPr>
        <p:txBody>
          <a:bodyPr wrap="square" lIns="0" tIns="0" rIns="0" bIns="0" rtlCol="0" anchor="ctr"/>
          <a:lstStyle/>
          <a:p>
            <a:pPr marL="0" indent="0">
              <a:buNone/>
            </a:pPr>
            <a:r>
              <a:rPr lang="en-US" sz="1400" b="1" kern="0" spc="400" dirty="0">
                <a:solidFill>
                  <a:srgbClr val="FFFFFF"/>
                </a:solidFill>
                <a:latin typeface="Arial" pitchFamily="34" charset="0"/>
                <a:ea typeface="Arial" pitchFamily="34" charset="-122"/>
                <a:cs typeface="Arial" pitchFamily="34" charset="-120"/>
              </a:rPr>
              <a:t>MANIPAL UNIVERSITY JAIPUR</a:t>
            </a:r>
            <a:endParaRPr lang="en-US" sz="1400" dirty="0"/>
          </a:p>
        </p:txBody>
      </p:sp>
      <p:sp>
        <p:nvSpPr>
          <p:cNvPr id="3" name="Text 1"/>
          <p:cNvSpPr txBox="1"/>
          <p:nvPr/>
        </p:nvSpPr>
        <p:spPr>
          <a:xfrm>
            <a:off x="548640" y="685800"/>
            <a:ext cx="7315200" cy="274320"/>
          </a:xfrm>
          <a:prstGeom prst="rect">
            <a:avLst/>
          </a:prstGeom>
          <a:noFill/>
          <a:ln/>
        </p:spPr>
        <p:txBody>
          <a:bodyPr wrap="square" lIns="0" tIns="0" rIns="0" bIns="0" rtlCol="0" anchor="ctr"/>
          <a:lstStyle/>
          <a:p>
            <a:pPr marL="0" indent="0">
              <a:buNone/>
            </a:pPr>
            <a:r>
              <a:rPr lang="en-US" sz="1200" dirty="0">
                <a:solidFill>
                  <a:srgbClr val="9CC4FF"/>
                </a:solidFill>
                <a:latin typeface="Calibri" pitchFamily="34" charset="0"/>
                <a:ea typeface="Calibri" pitchFamily="34" charset="-122"/>
                <a:cs typeface="Calibri" pitchFamily="34" charset="-120"/>
              </a:rPr>
              <a:t>Department of Computer and Communications Engineering</a:t>
            </a:r>
            <a:endParaRPr lang="en-US" sz="1200" dirty="0"/>
          </a:p>
        </p:txBody>
      </p:sp>
      <p:pic>
        <p:nvPicPr>
          <p:cNvPr id="4" name="Image 0" descr="HYPNEXIS 26 logo"/>
          <p:cNvPicPr>
            <a:picLocks noChangeAspect="1"/>
          </p:cNvPicPr>
          <p:nvPr/>
        </p:nvPicPr>
        <p:blipFill>
          <a:blip r:embed="rId3"/>
          <a:stretch>
            <a:fillRect/>
          </a:stretch>
        </p:blipFill>
        <p:spPr>
          <a:xfrm>
            <a:off x="548640" y="1600200"/>
            <a:ext cx="5120640" cy="2330220"/>
          </a:xfrm>
          <a:prstGeom prst="rect">
            <a:avLst/>
          </a:prstGeom>
        </p:spPr>
      </p:pic>
      <p:sp>
        <p:nvSpPr>
          <p:cNvPr id="5" name="Text 2"/>
          <p:cNvSpPr txBox="1"/>
          <p:nvPr/>
        </p:nvSpPr>
        <p:spPr>
          <a:xfrm>
            <a:off x="548640" y="4526280"/>
            <a:ext cx="6400800" cy="320040"/>
          </a:xfrm>
          <a:prstGeom prst="rect">
            <a:avLst/>
          </a:prstGeom>
          <a:noFill/>
          <a:ln/>
        </p:spPr>
        <p:txBody>
          <a:bodyPr wrap="square" lIns="0" tIns="0" rIns="0" bIns="0" rtlCol="0" anchor="ctr"/>
          <a:lstStyle/>
          <a:p>
            <a:pPr marL="0" indent="0">
              <a:buNone/>
            </a:pPr>
            <a:r>
              <a:rPr lang="en-US" sz="1400" b="1" kern="0" spc="300" dirty="0">
                <a:solidFill>
                  <a:srgbClr val="4DA3FF"/>
                </a:solidFill>
                <a:latin typeface="Arial" pitchFamily="34" charset="0"/>
                <a:ea typeface="Arial" pitchFamily="34" charset="-122"/>
                <a:cs typeface="Arial" pitchFamily="34" charset="-120"/>
              </a:rPr>
              <a:t>36-HOUR HACKATHON  •  24–25 OCTOBER 2026</a:t>
            </a:r>
            <a:endParaRPr lang="en-US" sz="1400" dirty="0"/>
          </a:p>
        </p:txBody>
      </p:sp>
      <p:sp>
        <p:nvSpPr>
          <p:cNvPr id="6" name="Text 3"/>
          <p:cNvSpPr txBox="1"/>
          <p:nvPr/>
        </p:nvSpPr>
        <p:spPr>
          <a:xfrm>
            <a:off x="548640" y="4892040"/>
            <a:ext cx="6400800" cy="274320"/>
          </a:xfrm>
          <a:prstGeom prst="rect">
            <a:avLst/>
          </a:prstGeom>
          <a:noFill/>
          <a:ln/>
        </p:spPr>
        <p:txBody>
          <a:bodyPr wrap="square" lIns="0" tIns="0" rIns="0" bIns="0" rtlCol="0" anchor="ctr"/>
          <a:lstStyle/>
          <a:p>
            <a:pPr marL="0" indent="0">
              <a:buNone/>
            </a:pPr>
            <a:r>
              <a:rPr lang="en-US" sz="1200" kern="0" spc="400" dirty="0">
                <a:solidFill>
                  <a:srgbClr val="FFFFFF"/>
                </a:solidFill>
                <a:latin typeface="Arial" pitchFamily="34" charset="0"/>
                <a:ea typeface="Arial" pitchFamily="34" charset="-122"/>
                <a:cs typeface="Arial" pitchFamily="34" charset="-120"/>
              </a:rPr>
              <a:t>BUILD / INNOVATE / CREATE</a:t>
            </a:r>
            <a:endParaRPr lang="en-US" sz="1200" dirty="0"/>
          </a:p>
        </p:txBody>
      </p:sp>
      <p:sp>
        <p:nvSpPr>
          <p:cNvPr id="7" name="Team details card"/>
          <p:cNvSpPr/>
          <p:nvPr/>
        </p:nvSpPr>
        <p:spPr>
          <a:xfrm>
            <a:off x="6949440" y="1371600"/>
            <a:ext cx="4754880" cy="4480560"/>
          </a:xfrm>
          <a:prstGeom prst="roundRect">
            <a:avLst>
              <a:gd name="adj" fmla="val 2449"/>
            </a:avLst>
          </a:prstGeom>
          <a:solidFill>
            <a:srgbClr val="0B1A4A">
              <a:alpha val="75000"/>
            </a:srgbClr>
          </a:solidFill>
          <a:ln w="12700">
            <a:solidFill>
              <a:srgbClr val="1E5BFF"/>
            </a:solidFill>
            <a:prstDash val="solid"/>
          </a:ln>
        </p:spPr>
      </p:sp>
      <p:sp>
        <p:nvSpPr>
          <p:cNvPr id="8" name="Text 5"/>
          <p:cNvSpPr txBox="1"/>
          <p:nvPr/>
        </p:nvSpPr>
        <p:spPr>
          <a:xfrm>
            <a:off x="7223760" y="1554480"/>
            <a:ext cx="4297680" cy="256032"/>
          </a:xfrm>
          <a:prstGeom prst="rect">
            <a:avLst/>
          </a:prstGeom>
          <a:noFill/>
          <a:ln/>
        </p:spPr>
        <p:txBody>
          <a:bodyPr wrap="square" lIns="0" tIns="0" rIns="0" bIns="0" rtlCol="0" anchor="ctr"/>
          <a:lstStyle/>
          <a:p>
            <a:pPr marL="0" indent="0">
              <a:buNone/>
            </a:pPr>
            <a:r>
              <a:rPr lang="en-US" sz="1100" b="1" kern="0" spc="200" dirty="0">
                <a:solidFill>
                  <a:srgbClr val="4DA3FF"/>
                </a:solidFill>
                <a:latin typeface="Arial" pitchFamily="34" charset="0"/>
                <a:ea typeface="Arial" pitchFamily="34" charset="-122"/>
                <a:cs typeface="Arial" pitchFamily="34" charset="-120"/>
              </a:rPr>
              <a:t>TEAM NAME</a:t>
            </a:r>
            <a:endParaRPr lang="en-US" sz="1100" dirty="0"/>
          </a:p>
        </p:txBody>
      </p:sp>
      <p:sp>
        <p:nvSpPr>
          <p:cNvPr id="9" name="Text 6"/>
          <p:cNvSpPr txBox="1"/>
          <p:nvPr/>
        </p:nvSpPr>
        <p:spPr>
          <a:xfrm>
            <a:off x="7223760" y="1801368"/>
            <a:ext cx="4297680" cy="347472"/>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Team Name</a:t>
            </a:r>
            <a:endParaRPr lang="en-US" sz="1600" dirty="0"/>
          </a:p>
        </p:txBody>
      </p:sp>
      <p:sp>
        <p:nvSpPr>
          <p:cNvPr id="10" name="Text 7"/>
          <p:cNvSpPr txBox="1"/>
          <p:nvPr/>
        </p:nvSpPr>
        <p:spPr>
          <a:xfrm>
            <a:off x="7223760" y="2249424"/>
            <a:ext cx="4297680" cy="256032"/>
          </a:xfrm>
          <a:prstGeom prst="rect">
            <a:avLst/>
          </a:prstGeom>
          <a:noFill/>
          <a:ln/>
        </p:spPr>
        <p:txBody>
          <a:bodyPr wrap="square" lIns="0" tIns="0" rIns="0" bIns="0" rtlCol="0" anchor="ctr"/>
          <a:lstStyle/>
          <a:p>
            <a:pPr marL="0" indent="0">
              <a:buNone/>
            </a:pPr>
            <a:r>
              <a:rPr lang="en-US" sz="1100" b="1" kern="0" spc="200" dirty="0">
                <a:solidFill>
                  <a:srgbClr val="4DA3FF"/>
                </a:solidFill>
                <a:latin typeface="Arial" pitchFamily="34" charset="0"/>
                <a:ea typeface="Arial" pitchFamily="34" charset="-122"/>
                <a:cs typeface="Arial" pitchFamily="34" charset="-120"/>
              </a:rPr>
              <a:t>TEAM ID</a:t>
            </a:r>
            <a:endParaRPr lang="en-US" sz="1100" dirty="0"/>
          </a:p>
        </p:txBody>
      </p:sp>
      <p:sp>
        <p:nvSpPr>
          <p:cNvPr id="11" name="Text 8"/>
          <p:cNvSpPr txBox="1"/>
          <p:nvPr/>
        </p:nvSpPr>
        <p:spPr>
          <a:xfrm>
            <a:off x="7223760" y="2496312"/>
            <a:ext cx="4297680" cy="347472"/>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HXXXX</a:t>
            </a:r>
            <a:endParaRPr lang="en-US" sz="1600" dirty="0"/>
          </a:p>
        </p:txBody>
      </p:sp>
      <p:sp>
        <p:nvSpPr>
          <p:cNvPr id="12" name="Text 9"/>
          <p:cNvSpPr txBox="1"/>
          <p:nvPr/>
        </p:nvSpPr>
        <p:spPr>
          <a:xfrm>
            <a:off x="7223760" y="2944368"/>
            <a:ext cx="4297680" cy="256032"/>
          </a:xfrm>
          <a:prstGeom prst="rect">
            <a:avLst/>
          </a:prstGeom>
          <a:noFill/>
          <a:ln/>
        </p:spPr>
        <p:txBody>
          <a:bodyPr wrap="square" lIns="0" tIns="0" rIns="0" bIns="0" rtlCol="0" anchor="ctr"/>
          <a:lstStyle/>
          <a:p>
            <a:pPr marL="0" indent="0">
              <a:buNone/>
            </a:pPr>
            <a:r>
              <a:rPr lang="en-US" sz="1100" b="1" kern="0" spc="200" dirty="0">
                <a:solidFill>
                  <a:srgbClr val="4DA3FF"/>
                </a:solidFill>
                <a:latin typeface="Arial" pitchFamily="34" charset="0"/>
                <a:ea typeface="Arial" pitchFamily="34" charset="-122"/>
                <a:cs typeface="Arial" pitchFamily="34" charset="-120"/>
              </a:rPr>
              <a:t>PROBLEM STATEMENT ID</a:t>
            </a:r>
            <a:endParaRPr lang="en-US" sz="1100" dirty="0"/>
          </a:p>
        </p:txBody>
      </p:sp>
      <p:sp>
        <p:nvSpPr>
          <p:cNvPr id="13" name="Text 10"/>
          <p:cNvSpPr txBox="1"/>
          <p:nvPr/>
        </p:nvSpPr>
        <p:spPr>
          <a:xfrm>
            <a:off x="7223760" y="3191256"/>
            <a:ext cx="4297680" cy="347472"/>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AI-04</a:t>
            </a:r>
            <a:endParaRPr lang="en-US" sz="1600" dirty="0"/>
          </a:p>
        </p:txBody>
      </p:sp>
      <p:sp>
        <p:nvSpPr>
          <p:cNvPr id="14" name="Text 11"/>
          <p:cNvSpPr txBox="1"/>
          <p:nvPr/>
        </p:nvSpPr>
        <p:spPr>
          <a:xfrm>
            <a:off x="7223760" y="3639312"/>
            <a:ext cx="4297680" cy="256032"/>
          </a:xfrm>
          <a:prstGeom prst="rect">
            <a:avLst/>
          </a:prstGeom>
          <a:noFill/>
          <a:ln/>
        </p:spPr>
        <p:txBody>
          <a:bodyPr wrap="square" lIns="0" tIns="0" rIns="0" bIns="0" rtlCol="0" anchor="ctr"/>
          <a:lstStyle/>
          <a:p>
            <a:pPr marL="0" indent="0">
              <a:buNone/>
            </a:pPr>
            <a:r>
              <a:rPr lang="en-US" sz="1100" b="1" kern="0" spc="200" dirty="0">
                <a:solidFill>
                  <a:srgbClr val="4DA3FF"/>
                </a:solidFill>
                <a:latin typeface="Arial" pitchFamily="34" charset="0"/>
                <a:ea typeface="Arial" pitchFamily="34" charset="-122"/>
                <a:cs typeface="Arial" pitchFamily="34" charset="-120"/>
              </a:rPr>
              <a:t>PROBLEM STATEMENT TITLE</a:t>
            </a:r>
            <a:endParaRPr lang="en-US" sz="1100" dirty="0"/>
          </a:p>
        </p:txBody>
      </p:sp>
      <p:sp>
        <p:nvSpPr>
          <p:cNvPr id="15" name="Text 12"/>
          <p:cNvSpPr txBox="1"/>
          <p:nvPr/>
        </p:nvSpPr>
        <p:spPr>
          <a:xfrm>
            <a:off x="7223760" y="3886200"/>
            <a:ext cx="4297680" cy="347472"/>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RAG Evaluation Pipeline</a:t>
            </a:r>
            <a:endParaRPr lang="en-US" sz="1600" dirty="0"/>
          </a:p>
        </p:txBody>
      </p:sp>
      <p:sp>
        <p:nvSpPr>
          <p:cNvPr id="16" name="Text 13"/>
          <p:cNvSpPr txBox="1"/>
          <p:nvPr/>
        </p:nvSpPr>
        <p:spPr>
          <a:xfrm>
            <a:off x="7223760" y="4334256"/>
            <a:ext cx="4297680" cy="256032"/>
          </a:xfrm>
          <a:prstGeom prst="rect">
            <a:avLst/>
          </a:prstGeom>
          <a:noFill/>
          <a:ln/>
        </p:spPr>
        <p:txBody>
          <a:bodyPr wrap="square" lIns="0" tIns="0" rIns="0" bIns="0" rtlCol="0" anchor="ctr"/>
          <a:lstStyle/>
          <a:p>
            <a:pPr marL="0" indent="0">
              <a:buNone/>
            </a:pPr>
            <a:r>
              <a:rPr lang="en-US" sz="1100" b="1" kern="0" spc="200" dirty="0">
                <a:solidFill>
                  <a:srgbClr val="4DA3FF"/>
                </a:solidFill>
                <a:latin typeface="Arial" pitchFamily="34" charset="0"/>
                <a:ea typeface="Arial" pitchFamily="34" charset="-122"/>
                <a:cs typeface="Arial" pitchFamily="34" charset="-120"/>
              </a:rPr>
              <a:t>THEME / DOMAIN</a:t>
            </a:r>
            <a:endParaRPr lang="en-US" sz="1100" dirty="0"/>
          </a:p>
        </p:txBody>
      </p:sp>
      <p:sp>
        <p:nvSpPr>
          <p:cNvPr id="17" name="Text 14"/>
          <p:cNvSpPr txBox="1"/>
          <p:nvPr/>
        </p:nvSpPr>
        <p:spPr>
          <a:xfrm>
            <a:off x="7223760" y="4581144"/>
            <a:ext cx="4297680" cy="347472"/>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Artificial Intelligence</a:t>
            </a:r>
            <a:endParaRPr lang="en-US" sz="1600" dirty="0"/>
          </a:p>
        </p:txBody>
      </p:sp>
      <p:sp>
        <p:nvSpPr>
          <p:cNvPr id="18" name="Text 15"/>
          <p:cNvSpPr txBox="1"/>
          <p:nvPr/>
        </p:nvSpPr>
        <p:spPr>
          <a:xfrm>
            <a:off x="7223760" y="5029200"/>
            <a:ext cx="4297680" cy="256032"/>
          </a:xfrm>
          <a:prstGeom prst="rect">
            <a:avLst/>
          </a:prstGeom>
          <a:noFill/>
          <a:ln/>
        </p:spPr>
        <p:txBody>
          <a:bodyPr wrap="square" lIns="0" tIns="0" rIns="0" bIns="0" rtlCol="0" anchor="ctr"/>
          <a:lstStyle/>
          <a:p>
            <a:pPr marL="0" indent="0">
              <a:buNone/>
            </a:pPr>
            <a:r>
              <a:rPr lang="en-US" sz="1100" b="1" kern="0" spc="200" dirty="0">
                <a:solidFill>
                  <a:srgbClr val="4DA3FF"/>
                </a:solidFill>
                <a:latin typeface="Arial" pitchFamily="34" charset="0"/>
                <a:ea typeface="Arial" pitchFamily="34" charset="-122"/>
                <a:cs typeface="Arial" pitchFamily="34" charset="-120"/>
              </a:rPr>
              <a:t>CATEGORY</a:t>
            </a:r>
            <a:endParaRPr lang="en-US" sz="1100" dirty="0"/>
          </a:p>
        </p:txBody>
      </p:sp>
      <p:sp>
        <p:nvSpPr>
          <p:cNvPr id="19" name="Text 16"/>
          <p:cNvSpPr txBox="1"/>
          <p:nvPr/>
        </p:nvSpPr>
        <p:spPr>
          <a:xfrm>
            <a:off x="7223760" y="5276088"/>
            <a:ext cx="4297680" cy="347472"/>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Software</a:t>
            </a:r>
            <a:endParaRPr lang="en-US" sz="1600" dirty="0"/>
          </a:p>
        </p:txBody>
      </p:sp>
      <p:sp>
        <p:nvSpPr>
          <p:cNvPr id="20" name="Text 17"/>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100" dirty="0">
                <a:solidFill>
                  <a:srgbClr val="9CC4FF"/>
                </a:solidFill>
                <a:latin typeface="Calibri" pitchFamily="34" charset="0"/>
                <a:ea typeface="Calibri" pitchFamily="34" charset="-122"/>
                <a:cs typeface="Calibri" pitchFamily="34" charset="-120"/>
              </a:rPr>
              <a:t>hypnexismuj.com   |   @hypnexis.muj   |   hypnexis2026@muj.manipal.edu</a:t>
            </a:r>
            <a:endParaRPr lang="en-US" sz="1100" dirty="0"/>
          </a:p>
        </p:txBody>
      </p:sp>
      <p:sp>
        <p:nvSpPr>
          <p:cNvPr id="21" name="Cover demo link"/>
          <p:cNvSpPr txBox="1"/>
          <p:nvPr/>
        </p:nvSpPr>
        <p:spPr>
          <a:xfrm>
            <a:off x="548640" y="5230368"/>
            <a:ext cx="6400800" cy="320040"/>
          </a:xfrm>
          <a:prstGeom prst="rect">
            <a:avLst/>
          </a:prstGeom>
          <a:noFill/>
        </p:spPr>
        <p:txBody>
          <a:bodyPr wrap="square" lIns="0" rIns="0" tIns="0" bIns="0" anchor="t">
            <a:spAutoFit/>
          </a:bodyPr>
          <a:lstStyle/>
          <a:p>
            <a:pPr algn="l"/>
            <a:r>
              <a:rPr sz="1400" b="1" i="0">
                <a:solidFill>
                  <a:srgbClr val="4DA3FF"/>
                </a:solidFill>
                <a:latin typeface="Calibri"/>
              </a:rPr>
              <a:t>▶  Live demo: </a:t>
            </a:r>
            <a:r>
              <a:rPr sz="1400" b="1" i="0">
                <a:solidFill>
                  <a:srgbClr val="FFFFFF"/>
                </a:solidFill>
                <a:latin typeface="Calibri"/>
                <a:hlinkClick r:id="rId4"/>
              </a:rPr>
              <a:t>rag-autopsy.vercel.app</a:t>
            </a:r>
          </a:p>
        </p:txBody>
      </p:sp>
      <p:sp>
        <p:nvSpPr>
          <p:cNvPr id="22" name="Demo note card"/>
          <p:cNvSpPr/>
          <p:nvPr/>
        </p:nvSpPr>
        <p:spPr>
          <a:xfrm>
            <a:off x="548640" y="5596128"/>
            <a:ext cx="6172200" cy="585216"/>
          </a:xfrm>
          <a:prstGeom prst="roundRect">
            <a:avLst>
              <a:gd name="adj" fmla="val 8000"/>
            </a:avLst>
          </a:prstGeom>
          <a:solidFill>
            <a:srgbClr val="0B1A4A">
              <a:alpha val="80000"/>
            </a:srgbClr>
          </a:solidFill>
          <a:ln w="12700">
            <a:solidFill>
              <a:srgbClr val="1E5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emo note"/>
          <p:cNvSpPr txBox="1"/>
          <p:nvPr/>
        </p:nvSpPr>
        <p:spPr>
          <a:xfrm>
            <a:off x="658368" y="5641848"/>
            <a:ext cx="5989320" cy="502920"/>
          </a:xfrm>
          <a:prstGeom prst="rect">
            <a:avLst/>
          </a:prstGeom>
          <a:noFill/>
        </p:spPr>
        <p:txBody>
          <a:bodyPr wrap="square" lIns="0" rIns="0" tIns="0" bIns="0" anchor="t">
            <a:spAutoFit/>
          </a:bodyPr>
          <a:lstStyle/>
          <a:p>
            <a:pPr algn="l"/>
            <a:r>
              <a:rPr sz="1150" b="1" i="0">
                <a:solidFill>
                  <a:srgbClr val="4DA3FF"/>
                </a:solidFill>
                <a:latin typeface="Calibri"/>
              </a:rPr>
              <a:t>Note: </a:t>
            </a:r>
            <a:r>
              <a:rPr sz="1150" b="1" i="0">
                <a:solidFill>
                  <a:srgbClr val="FFFFFF"/>
                </a:solidFill>
                <a:latin typeface="Calibri"/>
              </a:rPr>
              <a:t>A run on uploaded documents takes more time, so we built Demo mode. We recommend using Demo mode to see how ARENA works and the kind of results it gives.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960120"/>
            <a:ext cx="11274552" cy="731520"/>
          </a:xfrm>
          <a:prstGeom prst="rect">
            <a:avLst/>
          </a:prstGeom>
          <a:noFill/>
          <a:ln/>
        </p:spPr>
        <p:txBody>
          <a:bodyPr wrap="square" lIns="0" tIns="0" rIns="0" bIns="0" rtlCol="0" anchor="ctr"/>
          <a:lstStyle/>
          <a:p>
            <a:pPr marL="0" indent="0">
              <a:buNone/>
            </a:pPr>
            <a:r>
              <a:rPr lang="en-US" sz="3600" b="1" kern="0" spc="200" dirty="0">
                <a:solidFill>
                  <a:srgbClr val="FFFFFF"/>
                </a:solidFill>
                <a:latin typeface="Arial" pitchFamily="34" charset="0"/>
                <a:ea typeface="Arial" pitchFamily="34" charset="-122"/>
                <a:cs typeface="Arial" pitchFamily="34" charset="-120"/>
              </a:rPr>
              <a:t>ARENA</a:t>
            </a:r>
            <a:endParaRPr lang="en-US" sz="3600" dirty="0"/>
          </a:p>
        </p:txBody>
      </p:sp>
      <p:sp>
        <p:nvSpPr>
          <p:cNvPr id="3" name="Team tag"/>
          <p:cNvSpPr txBox="1"/>
          <p:nvPr/>
        </p:nvSpPr>
        <p:spPr>
          <a:xfrm>
            <a:off x="8503920" y="1097280"/>
            <a:ext cx="3227832" cy="320040"/>
          </a:xfrm>
          <a:prstGeom prst="rect">
            <a:avLst/>
          </a:prstGeom>
          <a:noFill/>
          <a:ln/>
        </p:spPr>
        <p:txBody>
          <a:bodyPr wrap="square" lIns="0" tIns="0" rIns="0" bIns="0" rtlCol="0" anchor="ctr"/>
          <a:lstStyle/>
          <a:p>
            <a:pPr marL="0" indent="0" algn="r">
              <a:buNone/>
            </a:pPr>
            <a:r>
              <a:rPr lang="en-US" sz="1200" dirty="0">
                <a:solidFill>
                  <a:srgbClr val="9CC4FF"/>
                </a:solidFill>
                <a:latin typeface="Calibri" pitchFamily="34" charset="0"/>
                <a:ea typeface="Calibri" pitchFamily="34" charset="-122"/>
                <a:cs typeface="Calibri" pitchFamily="34" charset="-120"/>
              </a:rPr>
              <a:t>Team Name  |  Team ID</a:t>
            </a:r>
            <a:endParaRPr lang="en-US" sz="1200" dirty="0"/>
          </a:p>
        </p:txBody>
      </p:sp>
      <p:sp>
        <p:nvSpPr>
          <p:cNvPr id="4" name="Problem card"/>
          <p:cNvSpPr/>
          <p:nvPr/>
        </p:nvSpPr>
        <p:spPr>
          <a:xfrm>
            <a:off x="457200" y="1691640"/>
            <a:ext cx="5486400" cy="4434840"/>
          </a:xfrm>
          <a:prstGeom prst="roundRect">
            <a:avLst>
              <a:gd name="adj" fmla="val 2474"/>
            </a:avLst>
          </a:prstGeom>
          <a:solidFill>
            <a:srgbClr val="0B1A4A">
              <a:alpha val="75000"/>
            </a:srgbClr>
          </a:solidFill>
          <a:ln w="12700">
            <a:solidFill>
              <a:srgbClr val="1E5BFF"/>
            </a:solidFill>
            <a:prstDash val="solid"/>
          </a:ln>
        </p:spPr>
      </p:sp>
      <p:sp>
        <p:nvSpPr>
          <p:cNvPr id="5" name="Problem head"/>
          <p:cNvSpPr txBox="1"/>
          <p:nvPr/>
        </p:nvSpPr>
        <p:spPr>
          <a:xfrm>
            <a:off x="731520" y="1874520"/>
            <a:ext cx="49377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PROBLEM STATEMENT</a:t>
            </a:r>
            <a:endParaRPr lang="en-US" sz="1500" dirty="0"/>
          </a:p>
        </p:txBody>
      </p:sp>
      <p:sp>
        <p:nvSpPr>
          <p:cNvPr id="6" name="Problem body"/>
          <p:cNvSpPr txBox="1"/>
          <p:nvPr/>
        </p:nvSpPr>
        <p:spPr>
          <a:xfrm>
            <a:off x="731520" y="2286000"/>
            <a:ext cx="4937760" cy="3657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RAG chatbots answer from documents, but when an answer is wrong, teams can't tell why.</a:t>
            </a:r>
            <a:endParaRPr lang="en-US" sz="1400" dirty="0"/>
          </a:p>
          <a:p>
            <a:pPr marL="342900" indent="-342900">
              <a:spcAft>
                <a:spcPts val="600"/>
              </a:spcAft>
              <a:buSzPct val="100000"/>
              <a:buChar char="•"/>
            </a:pPr>
            <a:r>
              <a:rPr lang="en-US" sz="1400" dirty="0" b="1">
                <a:solidFill>
                  <a:srgbClr val="FFFFFF"/>
                </a:solidFill>
                <a:latin typeface="Calibri" pitchFamily="34" charset="0"/>
                <a:ea typeface="Calibri" pitchFamily="34" charset="-122"/>
                <a:cs typeface="Calibri" pitchFamily="34" charset="-120"/>
              </a:rPr>
              <a:t>Three very different causes: </a:t>
            </a:r>
            <a:r>
              <a:rPr lang="en-US" sz="1400" dirty="0">
                <a:solidFill>
                  <a:srgbClr val="FFFFFF"/>
                </a:solidFill>
                <a:latin typeface="Calibri" pitchFamily="34" charset="0"/>
                <a:ea typeface="Calibri" pitchFamily="34" charset="-122"/>
                <a:cs typeface="Calibri" pitchFamily="34" charset="-120"/>
              </a:rPr>
              <a:t>the right passage was never retrieved, the model invented facts, or it answered something the documents can't answer.</a:t>
            </a:r>
            <a:endParaRPr lang="en-US" sz="1400" dirty="0"/>
          </a:p>
          <a:p>
            <a:pPr marL="342900" indent="-342900">
              <a:spcAft>
                <a:spcPts val="600"/>
              </a:spcAft>
              <a:buSzPct val="100000"/>
              <a:buChar char="•"/>
            </a:pPr>
            <a:r>
              <a:rPr lang="en-US" sz="1400" dirty="0" b="1">
                <a:solidFill>
                  <a:srgbClr val="FFFFFF"/>
                </a:solidFill>
                <a:latin typeface="Calibri" pitchFamily="34" charset="0"/>
                <a:ea typeface="Calibri" pitchFamily="34" charset="-122"/>
                <a:cs typeface="Calibri" pitchFamily="34" charset="-120"/>
              </a:rPr>
              <a:t>Existing tools (RAGAS, TruLens) give scores, </a:t>
            </a:r>
            <a:r>
              <a:rPr lang="en-US" sz="1400" dirty="0">
                <a:solidFill>
                  <a:srgbClr val="FFFFFF"/>
                </a:solidFill>
                <a:latin typeface="Calibri" pitchFamily="34" charset="0"/>
                <a:ea typeface="Calibri" pitchFamily="34" charset="-122"/>
                <a:cs typeface="Calibri" pitchFamily="34" charset="-120"/>
              </a:rPr>
              <a:t>like “faithfulness 0.71”: a fever reading, not a diagnosis.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LLM-as-judge verdicts are opinions: no proof, no fix, no check that a fix worked.</a:t>
            </a:r>
            <a:endParaRPr lang="en-US" sz="1400" dirty="0"/>
          </a:p>
          <a:p>
            <a:pPr marL="342900" indent="-342900">
              <a:spcAft>
                <a:spcPts val="600"/>
              </a:spcAft>
              <a:buSzPct val="100000"/>
              <a:buChar char="•"/>
            </a:pPr>
            <a:r>
              <a:rPr lang="en-US" sz="1400" dirty="0" b="1">
                <a:solidFill>
                  <a:srgbClr val="FFFFFF"/>
                </a:solidFill>
                <a:latin typeface="Calibri" pitchFamily="34" charset="0"/>
                <a:ea typeface="Calibri" pitchFamily="34" charset="-122"/>
                <a:cs typeface="Calibri" pitchFamily="34" charset="-120"/>
              </a:rPr>
              <a:t>Result: </a:t>
            </a:r>
            <a:r>
              <a:rPr lang="en-US" sz="1400" dirty="0">
                <a:solidFill>
                  <a:srgbClr val="FFFFFF"/>
                </a:solidFill>
                <a:latin typeface="Calibri" pitchFamily="34" charset="0"/>
                <a:ea typeface="Calibri" pitchFamily="34" charset="-122"/>
                <a:cs typeface="Calibri" pitchFamily="34" charset="-120"/>
              </a:rPr>
              <a:t>chunk size, top-k and prompts are tuned by trial and error, and wrong answers ship to users.</a:t>
            </a:r>
            <a:endParaRPr lang="en-US" sz="1400" dirty="0"/>
          </a:p>
        </p:txBody>
      </p:sp>
      <p:sp>
        <p:nvSpPr>
          <p:cNvPr id="7" name="Solution card"/>
          <p:cNvSpPr/>
          <p:nvPr/>
        </p:nvSpPr>
        <p:spPr>
          <a:xfrm>
            <a:off x="6245352" y="1691640"/>
            <a:ext cx="5486400" cy="2743200"/>
          </a:xfrm>
          <a:prstGeom prst="roundRect">
            <a:avLst>
              <a:gd name="adj" fmla="val 4000"/>
            </a:avLst>
          </a:prstGeom>
          <a:solidFill>
            <a:srgbClr val="0B1A4A">
              <a:alpha val="75000"/>
            </a:srgbClr>
          </a:solidFill>
          <a:ln w="12700">
            <a:solidFill>
              <a:srgbClr val="1E5BFF"/>
            </a:solidFill>
            <a:prstDash val="solid"/>
          </a:ln>
        </p:spPr>
      </p:sp>
      <p:sp>
        <p:nvSpPr>
          <p:cNvPr id="8" name="Solution head"/>
          <p:cNvSpPr txBox="1"/>
          <p:nvPr/>
        </p:nvSpPr>
        <p:spPr>
          <a:xfrm>
            <a:off x="6519672" y="1874520"/>
            <a:ext cx="49377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OUR SOLUTION</a:t>
            </a:r>
            <a:endParaRPr lang="en-US" sz="1500" dirty="0"/>
          </a:p>
        </p:txBody>
      </p:sp>
      <p:sp>
        <p:nvSpPr>
          <p:cNvPr id="9" name="Solution body"/>
          <p:cNvSpPr txBox="1"/>
          <p:nvPr/>
        </p:nvSpPr>
        <p:spPr>
          <a:xfrm>
            <a:off x="6519672" y="2286000"/>
            <a:ext cx="493776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Test set from your own docs: </a:t>
            </a:r>
            <a:r>
              <a:rPr lang="en-US" sz="1300" dirty="0">
                <a:solidFill>
                  <a:srgbClr val="FFFFFF"/>
                </a:solidFill>
                <a:latin typeface="Calibri" pitchFamily="34" charset="0"/>
                <a:ea typeface="Calibri" pitchFamily="34" charset="-122"/>
                <a:cs typeface="Calibri" pitchFamily="34" charset="-120"/>
              </a:rPr>
              <a:t>every question is tied to the exact gold sentence that answers it.</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Diagnoses every failure: </a:t>
            </a:r>
            <a:r>
              <a:rPr lang="en-US" sz="1300" dirty="0">
                <a:solidFill>
                  <a:srgbClr val="FFFFFF"/>
                </a:solidFill>
                <a:latin typeface="Calibri" pitchFamily="34" charset="0"/>
                <a:ea typeface="Calibri" pitchFamily="34" charset="-122"/>
                <a:cs typeface="Calibri" pitchFamily="34" charset="-120"/>
              </a:rPr>
              <a:t>retrieval / generation / abstention, with a sub-cause and a confidence.</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Proves retrieval failures: </a:t>
            </a:r>
            <a:r>
              <a:rPr lang="en-US" sz="1300" dirty="0">
                <a:solidFill>
                  <a:srgbClr val="FFFFFF"/>
                </a:solidFill>
                <a:latin typeface="Calibri" pitchFamily="34" charset="0"/>
                <a:ea typeface="Calibri" pitchFamily="34" charset="-122"/>
                <a:cs typeface="Calibri" pitchFamily="34" charset="-120"/>
              </a:rPr>
              <a:t>swap the gold chunk in and re-ask the same model.</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Prescribes a config fix and re-tests it: </a:t>
            </a:r>
            <a:r>
              <a:rPr lang="en-US" sz="1300" dirty="0">
                <a:solidFill>
                  <a:srgbClr val="FFFFFF"/>
                </a:solidFill>
                <a:latin typeface="Calibri" pitchFamily="34" charset="0"/>
                <a:ea typeface="Calibri" pitchFamily="34" charset="-122"/>
                <a:cs typeface="Calibri" pitchFamily="34" charset="-120"/>
              </a:rPr>
              <a:t>before / after in one click.</a:t>
            </a:r>
            <a:endParaRPr lang="en-US" sz="1400" dirty="0"/>
          </a:p>
        </p:txBody>
      </p:sp>
      <p:sp>
        <p:nvSpPr>
          <p:cNvPr id="10" name="Visual card"/>
          <p:cNvSpPr/>
          <p:nvPr/>
        </p:nvSpPr>
        <p:spPr>
          <a:xfrm>
            <a:off x="6245352" y="4617720"/>
            <a:ext cx="5486400" cy="1508760"/>
          </a:xfrm>
          <a:prstGeom prst="roundRect">
            <a:avLst>
              <a:gd name="adj" fmla="val 7273"/>
            </a:avLst>
          </a:prstGeom>
          <a:solidFill>
            <a:srgbClr val="0B1A4A">
              <a:alpha val="75000"/>
            </a:srgbClr>
          </a:solidFill>
          <a:ln w="12700">
            <a:solidFill>
              <a:srgbClr val="1E5BFF"/>
            </a:solidFill>
            <a:prstDash val="solid"/>
          </a:ln>
        </p:spPr>
      </p:sp>
      <p:sp>
        <p:nvSpPr>
          <p:cNvPr id="25" name="Slide Number Placeholder 0"/>
          <p:cNvSpPr>
            <a:spLocks noGrp="1"/>
          </p:cNvSpPr>
          <p:nvPr>
            <p:ph type="sldNum" sz="quarter" idx="4294967295"/>
          </p:nvPr>
        </p:nvSpPr>
        <p:spPr>
          <a:xfrm>
            <a:off x="1115568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C4FF"/>
                </a:solidFill>
                <a:latin typeface="Arial"/>
                <a:ea typeface="Arial"/>
                <a:cs typeface="Arial"/>
              </a:defRPr>
            </a:lvl1pPr>
          </a:lstStyle>
          <a:p>
            <a:pPr algn="r"/>
            <a:fld id="{F7021451-1387-4CA6-816F-3879F97B5CBC}" type="slidenum">
              <a:rPr lang="en-US" b="0"/>
              <a:t>2</a:t>
            </a:fld>
            <a:endParaRPr lang="en-US"/>
          </a:p>
        </p:txBody>
      </p:sp>
      <p:sp>
        <p:nvSpPr>
          <p:cNvPr id="26" name="TextBox 25"/>
          <p:cNvSpPr txBox="1"/>
          <p:nvPr/>
        </p:nvSpPr>
        <p:spPr>
          <a:xfrm>
            <a:off x="6446520" y="4727448"/>
            <a:ext cx="5120640" cy="228600"/>
          </a:xfrm>
          <a:prstGeom prst="rect">
            <a:avLst/>
          </a:prstGeom>
          <a:noFill/>
        </p:spPr>
        <p:txBody>
          <a:bodyPr wrap="square" lIns="0" rIns="0" tIns="0" bIns="0" anchor="t">
            <a:spAutoFit/>
          </a:bodyPr>
          <a:lstStyle/>
          <a:p>
            <a:pPr algn="l"/>
            <a:r>
              <a:rPr sz="1050" b="1" i="0">
                <a:solidFill>
                  <a:srgbClr val="4DA3FF"/>
                </a:solidFill>
                <a:latin typeface="Arial"/>
              </a:rPr>
              <a:t>THE PROOF: GOLD-CHUNK COUNTERFACTUAL</a:t>
            </a:r>
          </a:p>
        </p:txBody>
      </p:sp>
      <p:sp>
        <p:nvSpPr>
          <p:cNvPr id="27" name="Rounded Rectangle 26"/>
          <p:cNvSpPr/>
          <p:nvPr/>
        </p:nvSpPr>
        <p:spPr>
          <a:xfrm>
            <a:off x="6446520" y="5029200"/>
            <a:ext cx="1600200" cy="932688"/>
          </a:xfrm>
          <a:prstGeom prst="roundRect">
            <a:avLst>
              <a:gd name="adj" fmla="val 8000"/>
            </a:avLst>
          </a:prstGeom>
          <a:solidFill>
            <a:srgbClr val="0E2366"/>
          </a:solidFill>
          <a:ln w="1270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56248" y="5102352"/>
            <a:ext cx="1380744" cy="822960"/>
          </a:xfrm>
          <a:prstGeom prst="rect">
            <a:avLst/>
          </a:prstGeom>
          <a:noFill/>
        </p:spPr>
        <p:txBody>
          <a:bodyPr wrap="square" lIns="0" rIns="0" tIns="0" bIns="0" anchor="t">
            <a:spAutoFit/>
          </a:bodyPr>
          <a:lstStyle/>
          <a:p>
            <a:pPr algn="l">
              <a:spcAft>
                <a:spcPts val="200"/>
              </a:spcAft>
            </a:pPr>
            <a:r>
              <a:rPr sz="1150" b="1" i="0">
                <a:solidFill>
                  <a:srgbClr val="FFFFFF"/>
                </a:solidFill>
                <a:latin typeface="Calibri"/>
              </a:rPr>
              <a:t>Retrieved context</a:t>
            </a:r>
          </a:p>
          <a:p>
            <a:pPr algn="l">
              <a:spcAft>
                <a:spcPts val="200"/>
              </a:spcAft>
            </a:pPr>
            <a:r>
              <a:rPr sz="1100" b="0" i="0">
                <a:solidFill>
                  <a:srgbClr val="FB7185"/>
                </a:solidFill>
                <a:latin typeface="Calibri"/>
              </a:rPr>
              <a:t>✗  “There is no mention of a CarePlus plan”</a:t>
            </a:r>
          </a:p>
        </p:txBody>
      </p:sp>
      <p:sp>
        <p:nvSpPr>
          <p:cNvPr id="29" name="Rounded Rectangle 28"/>
          <p:cNvSpPr/>
          <p:nvPr/>
        </p:nvSpPr>
        <p:spPr>
          <a:xfrm>
            <a:off x="8366760" y="5029200"/>
            <a:ext cx="1600200" cy="932688"/>
          </a:xfrm>
          <a:prstGeom prst="roundRect">
            <a:avLst>
              <a:gd name="adj" fmla="val 8000"/>
            </a:avLst>
          </a:prstGeom>
          <a:solidFill>
            <a:srgbClr val="0E2366"/>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76488" y="5102352"/>
            <a:ext cx="1380744" cy="822960"/>
          </a:xfrm>
          <a:prstGeom prst="rect">
            <a:avLst/>
          </a:prstGeom>
          <a:noFill/>
        </p:spPr>
        <p:txBody>
          <a:bodyPr wrap="square" lIns="0" rIns="0" tIns="0" bIns="0" anchor="t">
            <a:spAutoFit/>
          </a:bodyPr>
          <a:lstStyle/>
          <a:p>
            <a:pPr algn="l">
              <a:spcAft>
                <a:spcPts val="200"/>
              </a:spcAft>
            </a:pPr>
            <a:r>
              <a:rPr sz="1150" b="1" i="0">
                <a:solidFill>
                  <a:srgbClr val="FFFFFF"/>
                </a:solidFill>
                <a:latin typeface="Calibri"/>
              </a:rPr>
              <a:t>Gold chunk only</a:t>
            </a:r>
          </a:p>
          <a:p>
            <a:pPr algn="l">
              <a:spcAft>
                <a:spcPts val="200"/>
              </a:spcAft>
            </a:pPr>
            <a:r>
              <a:rPr sz="1100" b="0" i="0">
                <a:solidFill>
                  <a:srgbClr val="34D399"/>
                </a:solidFill>
                <a:latin typeface="Calibri"/>
              </a:rPr>
              <a:t>✓  “The transfer fee is INR 500”</a:t>
            </a:r>
          </a:p>
        </p:txBody>
      </p:sp>
      <p:cxnSp>
        <p:nvCxnSpPr>
          <p:cNvPr id="31" name="Connector 30"/>
          <p:cNvCxnSpPr/>
          <p:nvPr/>
        </p:nvCxnSpPr>
        <p:spPr>
          <a:xfrm>
            <a:off x="8074152" y="5495544"/>
            <a:ext cx="265175" cy="0"/>
          </a:xfrm>
          <a:prstGeom prst="line">
            <a:avLst/>
          </a:prstGeom>
          <a:ln w="19050">
            <a:solidFill>
              <a:srgbClr val="9CC4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994392" y="5495544"/>
            <a:ext cx="265176" cy="0"/>
          </a:xfrm>
          <a:prstGeom prst="line">
            <a:avLst/>
          </a:prstGeom>
          <a:ln w="19050">
            <a:solidFill>
              <a:srgbClr val="9CC4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287000" y="5029200"/>
            <a:ext cx="1280160" cy="932688"/>
          </a:xfrm>
          <a:prstGeom prst="roundRect">
            <a:avLst>
              <a:gd name="adj" fmla="val 8000"/>
            </a:avLst>
          </a:prstGeom>
          <a:solidFill>
            <a:srgbClr val="1E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332720" y="5029200"/>
            <a:ext cx="1188720" cy="932688"/>
          </a:xfrm>
          <a:prstGeom prst="rect">
            <a:avLst/>
          </a:prstGeom>
          <a:noFill/>
        </p:spPr>
        <p:txBody>
          <a:bodyPr wrap="square" lIns="0" rIns="0" tIns="0" bIns="0" anchor="ctr">
            <a:spAutoFit/>
          </a:bodyPr>
          <a:lstStyle/>
          <a:p>
            <a:pPr algn="ctr"/>
            <a:r>
              <a:rPr sz="1150" b="1" i="0">
                <a:solidFill>
                  <a:srgbClr val="FFFFFF"/>
                </a:solidFill>
                <a:latin typeface="Calibri"/>
              </a:rPr>
              <a:t>Retrieval failure, </a:t>
            </a:r>
          </a:p>
          <a:p>
            <a:pPr algn="ctr"/>
            <a:r>
              <a:rPr sz="1150" b="1" i="0">
                <a:solidFill>
                  <a:srgbClr val="C7F9E5"/>
                </a:solidFill>
                <a:latin typeface="Calibri"/>
              </a:rPr>
              <a:t>proven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960120"/>
            <a:ext cx="11274552" cy="731520"/>
          </a:xfrm>
          <a:prstGeom prst="rect">
            <a:avLst/>
          </a:prstGeom>
          <a:noFill/>
          <a:ln/>
        </p:spPr>
        <p:txBody>
          <a:bodyPr wrap="square" lIns="0" tIns="0" rIns="0" bIns="0" rtlCol="0" anchor="ctr"/>
          <a:lstStyle/>
          <a:p>
            <a:pPr marL="0" indent="0">
              <a:buNone/>
            </a:pPr>
            <a:r>
              <a:rPr lang="en-US" sz="3600" b="1" kern="0" spc="200" dirty="0">
                <a:solidFill>
                  <a:srgbClr val="FFFFFF"/>
                </a:solidFill>
                <a:latin typeface="Arial" pitchFamily="34" charset="0"/>
                <a:ea typeface="Arial" pitchFamily="34" charset="-122"/>
                <a:cs typeface="Arial" pitchFamily="34" charset="-120"/>
              </a:rPr>
              <a:t>TECHNICAL APPROACH</a:t>
            </a:r>
            <a:endParaRPr lang="en-US" sz="3600" dirty="0"/>
          </a:p>
        </p:txBody>
      </p:sp>
      <p:sp>
        <p:nvSpPr>
          <p:cNvPr id="3" name="Team tag"/>
          <p:cNvSpPr txBox="1"/>
          <p:nvPr/>
        </p:nvSpPr>
        <p:spPr>
          <a:xfrm>
            <a:off x="8503920" y="1097280"/>
            <a:ext cx="3227832" cy="320040"/>
          </a:xfrm>
          <a:prstGeom prst="rect">
            <a:avLst/>
          </a:prstGeom>
          <a:noFill/>
          <a:ln/>
        </p:spPr>
        <p:txBody>
          <a:bodyPr wrap="square" lIns="0" tIns="0" rIns="0" bIns="0" rtlCol="0" anchor="ctr"/>
          <a:lstStyle/>
          <a:p>
            <a:pPr marL="0" indent="0" algn="r">
              <a:buNone/>
            </a:pPr>
            <a:r>
              <a:rPr lang="en-US" sz="1200" dirty="0">
                <a:solidFill>
                  <a:srgbClr val="9CC4FF"/>
                </a:solidFill>
                <a:latin typeface="Calibri" pitchFamily="34" charset="0"/>
                <a:ea typeface="Calibri" pitchFamily="34" charset="-122"/>
                <a:cs typeface="Calibri" pitchFamily="34" charset="-120"/>
              </a:rPr>
              <a:t>Team Name  |  Team ID</a:t>
            </a:r>
            <a:endParaRPr lang="en-US" sz="1200" dirty="0"/>
          </a:p>
        </p:txBody>
      </p:sp>
      <p:sp>
        <p:nvSpPr>
          <p:cNvPr id="4" name="Architecture card"/>
          <p:cNvSpPr/>
          <p:nvPr/>
        </p:nvSpPr>
        <p:spPr>
          <a:xfrm>
            <a:off x="457200" y="1691640"/>
            <a:ext cx="5486400" cy="4434840"/>
          </a:xfrm>
          <a:prstGeom prst="roundRect">
            <a:avLst>
              <a:gd name="adj" fmla="val 2474"/>
            </a:avLst>
          </a:prstGeom>
          <a:solidFill>
            <a:srgbClr val="0B1A4A">
              <a:alpha val="75000"/>
            </a:srgbClr>
          </a:solidFill>
          <a:ln w="12700">
            <a:solidFill>
              <a:srgbClr val="1E5BFF"/>
            </a:solidFill>
            <a:prstDash val="solid"/>
          </a:ln>
        </p:spPr>
      </p:sp>
      <p:sp>
        <p:nvSpPr>
          <p:cNvPr id="5" name="Arch head"/>
          <p:cNvSpPr txBox="1"/>
          <p:nvPr/>
        </p:nvSpPr>
        <p:spPr>
          <a:xfrm>
            <a:off x="731520" y="1874520"/>
            <a:ext cx="49377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SYSTEM ARCHITECTURE</a:t>
            </a:r>
            <a:endParaRPr lang="en-US" sz="1500" dirty="0"/>
          </a:p>
        </p:txBody>
      </p:sp>
      <p:sp>
        <p:nvSpPr>
          <p:cNvPr id="7" name="Tech card"/>
          <p:cNvSpPr/>
          <p:nvPr/>
        </p:nvSpPr>
        <p:spPr>
          <a:xfrm>
            <a:off x="6245352" y="1691640"/>
            <a:ext cx="5486400" cy="2148840"/>
          </a:xfrm>
          <a:prstGeom prst="roundRect">
            <a:avLst>
              <a:gd name="adj" fmla="val 5106"/>
            </a:avLst>
          </a:prstGeom>
          <a:solidFill>
            <a:srgbClr val="0B1A4A">
              <a:alpha val="75000"/>
            </a:srgbClr>
          </a:solidFill>
          <a:ln w="12700">
            <a:solidFill>
              <a:srgbClr val="1E5BFF"/>
            </a:solidFill>
            <a:prstDash val="solid"/>
          </a:ln>
        </p:spPr>
      </p:sp>
      <p:sp>
        <p:nvSpPr>
          <p:cNvPr id="8" name="Tech head"/>
          <p:cNvSpPr txBox="1"/>
          <p:nvPr/>
        </p:nvSpPr>
        <p:spPr>
          <a:xfrm>
            <a:off x="6519672" y="1874520"/>
            <a:ext cx="49377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CORE TECHNOLOGIES</a:t>
            </a:r>
            <a:endParaRPr lang="en-US" sz="1500" dirty="0"/>
          </a:p>
        </p:txBody>
      </p:sp>
      <p:sp>
        <p:nvSpPr>
          <p:cNvPr id="9" name="Tech body"/>
          <p:cNvSpPr txBox="1"/>
          <p:nvPr/>
        </p:nvSpPr>
        <p:spPr>
          <a:xfrm>
            <a:off x="6519672" y="2286000"/>
            <a:ext cx="49377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b="1">
                <a:solidFill>
                  <a:srgbClr val="FFFFFF"/>
                </a:solidFill>
                <a:latin typeface="Calibri" pitchFamily="34" charset="0"/>
                <a:ea typeface="Calibri" pitchFamily="34" charset="-122"/>
                <a:cs typeface="Calibri" pitchFamily="34" charset="-120"/>
              </a:rPr>
              <a:t>Backend: </a:t>
            </a:r>
            <a:r>
              <a:rPr lang="en-US" sz="1200" dirty="0">
                <a:solidFill>
                  <a:srgbClr val="FFFFFF"/>
                </a:solidFill>
                <a:latin typeface="Calibri" pitchFamily="34" charset="0"/>
                <a:ea typeface="Calibri" pitchFamily="34" charset="-122"/>
                <a:cs typeface="Calibri" pitchFamily="34" charset="-120"/>
              </a:rPr>
              <a:t>Python 3.11, FastAPI, Pydantic, asyncio; React + Tailwind dashboard</a:t>
            </a:r>
            <a:endParaRPr lang="en-US" sz="1400" dirty="0"/>
          </a:p>
          <a:p>
            <a:pPr marL="342900" indent="-342900">
              <a:spcAft>
                <a:spcPts val="600"/>
              </a:spcAft>
              <a:buSzPct val="100000"/>
              <a:buChar char="•"/>
            </a:pPr>
            <a:r>
              <a:rPr lang="en-US" sz="1200" dirty="0" b="1">
                <a:solidFill>
                  <a:srgbClr val="FFFFFF"/>
                </a:solidFill>
                <a:latin typeface="Calibri" pitchFamily="34" charset="0"/>
                <a:ea typeface="Calibri" pitchFamily="34" charset="-122"/>
                <a:cs typeface="Calibri" pitchFamily="34" charset="-120"/>
              </a:rPr>
              <a:t>Retrieval: </a:t>
            </a:r>
            <a:r>
              <a:rPr lang="en-US" sz="1200" dirty="0">
                <a:solidFill>
                  <a:srgbClr val="FFFFFF"/>
                </a:solidFill>
                <a:latin typeface="Calibri" pitchFamily="34" charset="0"/>
                <a:ea typeface="Calibri" pitchFamily="34" charset="-122"/>
                <a:cs typeface="Calibri" pitchFamily="34" charset="-120"/>
              </a:rPr>
              <a:t>ChromaDB, bge-small embeddings, BM25 + RRF, bge-reranker</a:t>
            </a:r>
            <a:endParaRPr lang="en-US" sz="1400" dirty="0"/>
          </a:p>
          <a:p>
            <a:pPr marL="342900" indent="-342900">
              <a:spcAft>
                <a:spcPts val="600"/>
              </a:spcAft>
              <a:buSzPct val="100000"/>
              <a:buChar char="•"/>
            </a:pPr>
            <a:r>
              <a:rPr lang="en-US" sz="1200" dirty="0" b="1">
                <a:solidFill>
                  <a:srgbClr val="FFFFFF"/>
                </a:solidFill>
                <a:latin typeface="Calibri" pitchFamily="34" charset="0"/>
                <a:ea typeface="Calibri" pitchFamily="34" charset="-122"/>
                <a:cs typeface="Calibri" pitchFamily="34" charset="-120"/>
              </a:rPr>
              <a:t>Local checkers (no LLM): </a:t>
            </a:r>
            <a:r>
              <a:rPr lang="en-US" sz="1200" dirty="0">
                <a:solidFill>
                  <a:srgbClr val="FFFFFF"/>
                </a:solidFill>
                <a:latin typeface="Calibri" pitchFamily="34" charset="0"/>
                <a:ea typeface="Calibri" pitchFamily="34" charset="-122"/>
                <a:cs typeface="Calibri" pitchFamily="34" charset="-120"/>
              </a:rPr>
              <a:t>LettuceDetect, HHEM-2.1 / MiniCheck</a:t>
            </a:r>
            <a:endParaRPr lang="en-US" sz="1400" dirty="0"/>
          </a:p>
          <a:p>
            <a:pPr marL="342900" indent="-342900">
              <a:spcAft>
                <a:spcPts val="600"/>
              </a:spcAft>
              <a:buSzPct val="100000"/>
              <a:buChar char="•"/>
            </a:pPr>
            <a:r>
              <a:rPr lang="en-US" sz="1200" dirty="0" b="1">
                <a:solidFill>
                  <a:srgbClr val="FFFFFF"/>
                </a:solidFill>
                <a:latin typeface="Calibri" pitchFamily="34" charset="0"/>
                <a:ea typeface="Calibri" pitchFamily="34" charset="-122"/>
                <a:cs typeface="Calibri" pitchFamily="34" charset="-120"/>
              </a:rPr>
              <a:t>LLMs: </a:t>
            </a:r>
            <a:r>
              <a:rPr lang="en-US" sz="1200" dirty="0">
                <a:solidFill>
                  <a:srgbClr val="FFFFFF"/>
                </a:solidFill>
                <a:latin typeface="Calibri" pitchFamily="34" charset="0"/>
                <a:ea typeface="Calibri" pitchFamily="34" charset="-122"/>
                <a:cs typeface="Calibri" pitchFamily="34" charset="-120"/>
              </a:rPr>
              <a:t>Gemini (generator) + Groq gpt-oss-120b (judge), any OpenAI-compatible API</a:t>
            </a:r>
            <a:endParaRPr lang="en-US" sz="1400" dirty="0"/>
          </a:p>
        </p:txBody>
      </p:sp>
      <p:sp>
        <p:nvSpPr>
          <p:cNvPr id="10" name="Unique card"/>
          <p:cNvSpPr/>
          <p:nvPr/>
        </p:nvSpPr>
        <p:spPr>
          <a:xfrm>
            <a:off x="6245352" y="4023360"/>
            <a:ext cx="5486400" cy="2103120"/>
          </a:xfrm>
          <a:prstGeom prst="roundRect">
            <a:avLst>
              <a:gd name="adj" fmla="val 5217"/>
            </a:avLst>
          </a:prstGeom>
          <a:solidFill>
            <a:srgbClr val="0B1A4A">
              <a:alpha val="75000"/>
            </a:srgbClr>
          </a:solidFill>
          <a:ln w="12700">
            <a:solidFill>
              <a:srgbClr val="1E5BFF"/>
            </a:solidFill>
            <a:prstDash val="solid"/>
          </a:ln>
        </p:spPr>
      </p:sp>
      <p:sp>
        <p:nvSpPr>
          <p:cNvPr id="11" name="Unique head"/>
          <p:cNvSpPr txBox="1"/>
          <p:nvPr/>
        </p:nvSpPr>
        <p:spPr>
          <a:xfrm>
            <a:off x="6519672" y="4206240"/>
            <a:ext cx="49377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UNIQUE POINTS</a:t>
            </a:r>
            <a:endParaRPr lang="en-US" sz="1500" dirty="0"/>
          </a:p>
        </p:txBody>
      </p:sp>
      <p:sp>
        <p:nvSpPr>
          <p:cNvPr id="12" name="Unique body"/>
          <p:cNvSpPr txBox="1"/>
          <p:nvPr/>
        </p:nvSpPr>
        <p:spPr>
          <a:xfrm>
            <a:off x="6519672" y="4617720"/>
            <a:ext cx="493776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Causal proof, </a:t>
            </a:r>
            <a:r>
              <a:rPr lang="en-US" sz="1300" dirty="0">
                <a:solidFill>
                  <a:srgbClr val="FFFFFF"/>
                </a:solidFill>
                <a:latin typeface="Calibri" pitchFamily="34" charset="0"/>
                <a:ea typeface="Calibri" pitchFamily="34" charset="-122"/>
                <a:cs typeface="Calibri" pitchFamily="34" charset="-120"/>
              </a:rPr>
              <a:t>not a judge's opinion: the gold-chunk counterfactual.</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Cost-aware cascade: </a:t>
            </a:r>
            <a:r>
              <a:rPr lang="en-US" sz="1300" dirty="0">
                <a:solidFill>
                  <a:srgbClr val="FFFFFF"/>
                </a:solidFill>
                <a:latin typeface="Calibri" pitchFamily="34" charset="0"/>
                <a:ea typeface="Calibri" pitchFamily="34" charset="-122"/>
                <a:cs typeface="Calibri" pitchFamily="34" charset="-120"/>
              </a:rPr>
              <a:t>81% of questions settled with zero LLM calls (0.36 calls / question).</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Closed loop: </a:t>
            </a:r>
            <a:r>
              <a:rPr lang="en-US" sz="1300" dirty="0">
                <a:solidFill>
                  <a:srgbClr val="FFFFFF"/>
                </a:solidFill>
                <a:latin typeface="Calibri" pitchFamily="34" charset="0"/>
                <a:ea typeface="Calibri" pitchFamily="34" charset="-122"/>
                <a:cs typeface="Calibri" pitchFamily="34" charset="-120"/>
              </a:rPr>
              <a:t>diagnosis → prescription → verified fix.</a:t>
            </a:r>
            <a:endParaRPr lang="en-US" sz="1400" dirty="0"/>
          </a:p>
        </p:txBody>
      </p:sp>
      <p:sp>
        <p:nvSpPr>
          <p:cNvPr id="25" name="Slide Number Placeholder 0"/>
          <p:cNvSpPr>
            <a:spLocks noGrp="1"/>
          </p:cNvSpPr>
          <p:nvPr>
            <p:ph type="sldNum" sz="quarter" idx="4294967295"/>
          </p:nvPr>
        </p:nvSpPr>
        <p:spPr>
          <a:xfrm>
            <a:off x="1115568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C4FF"/>
                </a:solidFill>
                <a:latin typeface="Arial"/>
                <a:ea typeface="Arial"/>
                <a:cs typeface="Arial"/>
              </a:defRPr>
            </a:lvl1pPr>
          </a:lstStyle>
          <a:p>
            <a:pPr algn="r"/>
            <a:fld id="{F7021451-1387-4CA6-816F-3879F97B5CBC}" type="slidenum">
              <a:rPr lang="en-US" b="0"/>
              <a:t>3</a:t>
            </a:fld>
            <a:endParaRPr lang="en-US"/>
          </a:p>
        </p:txBody>
      </p:sp>
      <p:cxnSp>
        <p:nvCxnSpPr>
          <p:cNvPr id="26" name="Connector 25"/>
          <p:cNvCxnSpPr/>
          <p:nvPr/>
        </p:nvCxnSpPr>
        <p:spPr>
          <a:xfrm>
            <a:off x="914400" y="2715768"/>
            <a:ext cx="0" cy="219456"/>
          </a:xfrm>
          <a:prstGeom prst="line">
            <a:avLst/>
          </a:prstGeom>
          <a:ln w="19050">
            <a:solidFill>
              <a:srgbClr val="1E5BFF"/>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31520" y="2331720"/>
            <a:ext cx="384048" cy="384048"/>
          </a:xfrm>
          <a:prstGeom prst="ellipse">
            <a:avLst/>
          </a:prstGeom>
          <a:solidFill>
            <a:srgbClr val="1E5B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20" y="2331720"/>
            <a:ext cx="384048" cy="384048"/>
          </a:xfrm>
          <a:prstGeom prst="rect">
            <a:avLst/>
          </a:prstGeom>
          <a:noFill/>
        </p:spPr>
        <p:txBody>
          <a:bodyPr wrap="square" lIns="0" rIns="0" tIns="0" bIns="0" anchor="ctr">
            <a:spAutoFit/>
          </a:bodyPr>
          <a:lstStyle/>
          <a:p>
            <a:pPr algn="ctr"/>
            <a:r>
              <a:rPr sz="1200" b="1" i="0">
                <a:solidFill>
                  <a:srgbClr val="FFFFFF"/>
                </a:solidFill>
                <a:latin typeface="Arial"/>
              </a:rPr>
              <a:t>1</a:t>
            </a:r>
          </a:p>
        </p:txBody>
      </p:sp>
      <p:sp>
        <p:nvSpPr>
          <p:cNvPr id="29" name="TextBox 28"/>
          <p:cNvSpPr txBox="1"/>
          <p:nvPr/>
        </p:nvSpPr>
        <p:spPr>
          <a:xfrm>
            <a:off x="1325880" y="2313432"/>
            <a:ext cx="4389120" cy="502920"/>
          </a:xfrm>
          <a:prstGeom prst="rect">
            <a:avLst/>
          </a:prstGeom>
          <a:noFill/>
        </p:spPr>
        <p:txBody>
          <a:bodyPr wrap="square" lIns="0" rIns="0" tIns="0" bIns="0" anchor="t">
            <a:spAutoFit/>
          </a:bodyPr>
          <a:lstStyle/>
          <a:p>
            <a:pPr algn="l"/>
            <a:r>
              <a:rPr sz="1300" b="1" i="0">
                <a:solidFill>
                  <a:srgbClr val="FFFFFF"/>
                </a:solidFill>
                <a:latin typeface="Calibri"/>
              </a:rPr>
              <a:t>Ingest</a:t>
            </a:r>
          </a:p>
          <a:p>
            <a:pPr algn="l"/>
            <a:r>
              <a:rPr sz="1100" b="0" i="0">
                <a:solidFill>
                  <a:srgbClr val="9CC4FF"/>
                </a:solidFill>
                <a:latin typeface="Calibri"/>
              </a:rPr>
              <a:t>PDF / DOCX / MD → chunks → bge embeddings → ChromaDB</a:t>
            </a:r>
          </a:p>
        </p:txBody>
      </p:sp>
      <p:cxnSp>
        <p:nvCxnSpPr>
          <p:cNvPr id="30" name="Connector 29"/>
          <p:cNvCxnSpPr/>
          <p:nvPr/>
        </p:nvCxnSpPr>
        <p:spPr>
          <a:xfrm>
            <a:off x="914400" y="3319272"/>
            <a:ext cx="0" cy="219456"/>
          </a:xfrm>
          <a:prstGeom prst="line">
            <a:avLst/>
          </a:prstGeom>
          <a:ln w="19050">
            <a:solidFill>
              <a:srgbClr val="1E5BFF"/>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31520" y="2935224"/>
            <a:ext cx="384048" cy="384048"/>
          </a:xfrm>
          <a:prstGeom prst="ellipse">
            <a:avLst/>
          </a:prstGeom>
          <a:solidFill>
            <a:srgbClr val="1E5B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31520" y="2935224"/>
            <a:ext cx="384048" cy="384048"/>
          </a:xfrm>
          <a:prstGeom prst="rect">
            <a:avLst/>
          </a:prstGeom>
          <a:noFill/>
        </p:spPr>
        <p:txBody>
          <a:bodyPr wrap="square" lIns="0" rIns="0" tIns="0" bIns="0" anchor="ctr">
            <a:spAutoFit/>
          </a:bodyPr>
          <a:lstStyle/>
          <a:p>
            <a:pPr algn="ctr"/>
            <a:r>
              <a:rPr sz="1200" b="1" i="0">
                <a:solidFill>
                  <a:srgbClr val="FFFFFF"/>
                </a:solidFill>
                <a:latin typeface="Arial"/>
              </a:rPr>
              <a:t>2</a:t>
            </a:r>
          </a:p>
        </p:txBody>
      </p:sp>
      <p:sp>
        <p:nvSpPr>
          <p:cNvPr id="33" name="TextBox 32"/>
          <p:cNvSpPr txBox="1"/>
          <p:nvPr/>
        </p:nvSpPr>
        <p:spPr>
          <a:xfrm>
            <a:off x="1325880" y="2916936"/>
            <a:ext cx="4389120" cy="502920"/>
          </a:xfrm>
          <a:prstGeom prst="rect">
            <a:avLst/>
          </a:prstGeom>
          <a:noFill/>
        </p:spPr>
        <p:txBody>
          <a:bodyPr wrap="square" lIns="0" rIns="0" tIns="0" bIns="0" anchor="t">
            <a:spAutoFit/>
          </a:bodyPr>
          <a:lstStyle/>
          <a:p>
            <a:pPr algn="l"/>
            <a:r>
              <a:rPr sz="1300" b="1" i="0">
                <a:solidFill>
                  <a:srgbClr val="FFFFFF"/>
                </a:solidFill>
                <a:latin typeface="Calibri"/>
              </a:rPr>
              <a:t>Test-set generator</a:t>
            </a:r>
          </a:p>
          <a:p>
            <a:pPr algn="l"/>
            <a:r>
              <a:rPr sz="1100" b="0" i="0">
                <a:solidFill>
                  <a:srgbClr val="9CC4FF"/>
                </a:solidFill>
                <a:latin typeface="Calibri"/>
              </a:rPr>
              <a:t>typed questions + exact gold evidence, 5 quality filters</a:t>
            </a:r>
          </a:p>
        </p:txBody>
      </p:sp>
      <p:cxnSp>
        <p:nvCxnSpPr>
          <p:cNvPr id="34" name="Connector 33"/>
          <p:cNvCxnSpPr/>
          <p:nvPr/>
        </p:nvCxnSpPr>
        <p:spPr>
          <a:xfrm>
            <a:off x="914400" y="3922776"/>
            <a:ext cx="0" cy="219456"/>
          </a:xfrm>
          <a:prstGeom prst="line">
            <a:avLst/>
          </a:prstGeom>
          <a:ln w="19050">
            <a:solidFill>
              <a:srgbClr val="1E5BFF"/>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31520" y="3538728"/>
            <a:ext cx="384048" cy="384048"/>
          </a:xfrm>
          <a:prstGeom prst="ellipse">
            <a:avLst/>
          </a:prstGeom>
          <a:solidFill>
            <a:srgbClr val="1E5B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20" y="3538728"/>
            <a:ext cx="384048" cy="384048"/>
          </a:xfrm>
          <a:prstGeom prst="rect">
            <a:avLst/>
          </a:prstGeom>
          <a:noFill/>
        </p:spPr>
        <p:txBody>
          <a:bodyPr wrap="square" lIns="0" rIns="0" tIns="0" bIns="0" anchor="ctr">
            <a:spAutoFit/>
          </a:bodyPr>
          <a:lstStyle/>
          <a:p>
            <a:pPr algn="ctr"/>
            <a:r>
              <a:rPr sz="1200" b="1" i="0">
                <a:solidFill>
                  <a:srgbClr val="FFFFFF"/>
                </a:solidFill>
                <a:latin typeface="Arial"/>
              </a:rPr>
              <a:t>3</a:t>
            </a:r>
          </a:p>
        </p:txBody>
      </p:sp>
      <p:sp>
        <p:nvSpPr>
          <p:cNvPr id="37" name="TextBox 36"/>
          <p:cNvSpPr txBox="1"/>
          <p:nvPr/>
        </p:nvSpPr>
        <p:spPr>
          <a:xfrm>
            <a:off x="1325880" y="3520440"/>
            <a:ext cx="4389120" cy="502920"/>
          </a:xfrm>
          <a:prstGeom prst="rect">
            <a:avLst/>
          </a:prstGeom>
          <a:noFill/>
        </p:spPr>
        <p:txBody>
          <a:bodyPr wrap="square" lIns="0" rIns="0" tIns="0" bIns="0" anchor="t">
            <a:spAutoFit/>
          </a:bodyPr>
          <a:lstStyle/>
          <a:p>
            <a:pPr algn="l"/>
            <a:r>
              <a:rPr sz="1300" b="1" i="0">
                <a:solidFill>
                  <a:srgbClr val="FFFFFF"/>
                </a:solidFill>
                <a:latin typeface="Calibri"/>
              </a:rPr>
              <a:t>RAG under test</a:t>
            </a:r>
          </a:p>
          <a:p>
            <a:pPr algn="l"/>
            <a:r>
              <a:rPr sz="1100" b="0" i="0">
                <a:solidFill>
                  <a:srgbClr val="9CC4FF"/>
                </a:solidFill>
                <a:latin typeface="Calibri"/>
              </a:rPr>
              <a:t>top-50 ranked retrieval (dense / hybrid / rerank) → answer</a:t>
            </a:r>
          </a:p>
        </p:txBody>
      </p:sp>
      <p:cxnSp>
        <p:nvCxnSpPr>
          <p:cNvPr id="38" name="Connector 37"/>
          <p:cNvCxnSpPr/>
          <p:nvPr/>
        </p:nvCxnSpPr>
        <p:spPr>
          <a:xfrm>
            <a:off x="914400" y="4526279"/>
            <a:ext cx="0" cy="219457"/>
          </a:xfrm>
          <a:prstGeom prst="line">
            <a:avLst/>
          </a:prstGeom>
          <a:ln w="19050">
            <a:solidFill>
              <a:srgbClr val="1E5BFF"/>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234440" y="4087368"/>
            <a:ext cx="4526280" cy="512064"/>
          </a:xfrm>
          <a:prstGeom prst="roundRect">
            <a:avLst>
              <a:gd name="adj" fmla="val 8000"/>
            </a:avLst>
          </a:prstGeom>
          <a:solidFill>
            <a:srgbClr val="12307F"/>
          </a:solidFill>
          <a:ln w="12700">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731520" y="4142231"/>
            <a:ext cx="384048" cy="384048"/>
          </a:xfrm>
          <a:prstGeom prst="ellipse">
            <a:avLst/>
          </a:prstGeom>
          <a:solidFill>
            <a:srgbClr val="1E5B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31520" y="4142231"/>
            <a:ext cx="384048" cy="384048"/>
          </a:xfrm>
          <a:prstGeom prst="rect">
            <a:avLst/>
          </a:prstGeom>
          <a:noFill/>
        </p:spPr>
        <p:txBody>
          <a:bodyPr wrap="square" lIns="0" rIns="0" tIns="0" bIns="0" anchor="ctr">
            <a:spAutoFit/>
          </a:bodyPr>
          <a:lstStyle/>
          <a:p>
            <a:pPr algn="ctr"/>
            <a:r>
              <a:rPr sz="1200" b="1" i="0">
                <a:solidFill>
                  <a:srgbClr val="FFFFFF"/>
                </a:solidFill>
                <a:latin typeface="Arial"/>
              </a:rPr>
              <a:t>4</a:t>
            </a:r>
          </a:p>
        </p:txBody>
      </p:sp>
      <p:sp>
        <p:nvSpPr>
          <p:cNvPr id="42" name="TextBox 41"/>
          <p:cNvSpPr txBox="1"/>
          <p:nvPr/>
        </p:nvSpPr>
        <p:spPr>
          <a:xfrm>
            <a:off x="1325880" y="4123944"/>
            <a:ext cx="4389120" cy="502920"/>
          </a:xfrm>
          <a:prstGeom prst="rect">
            <a:avLst/>
          </a:prstGeom>
          <a:noFill/>
        </p:spPr>
        <p:txBody>
          <a:bodyPr wrap="square" lIns="0" rIns="0" tIns="0" bIns="0" anchor="t">
            <a:spAutoFit/>
          </a:bodyPr>
          <a:lstStyle/>
          <a:p>
            <a:pPr algn="l"/>
            <a:r>
              <a:rPr sz="1300" b="1" i="0">
                <a:solidFill>
                  <a:srgbClr val="FFFFFF"/>
                </a:solidFill>
                <a:latin typeface="Calibri"/>
              </a:rPr>
              <a:t>3-tier diagnostic cascade</a:t>
            </a:r>
          </a:p>
          <a:p>
            <a:pPr algn="l"/>
            <a:r>
              <a:rPr sz="1100" b="0" i="0">
                <a:solidFill>
                  <a:srgbClr val="9CC4FF"/>
                </a:solidFill>
                <a:latin typeface="Calibri"/>
              </a:rPr>
              <a:t>T1 local checks · T2 grounding + judge · T3 counterfactual</a:t>
            </a:r>
          </a:p>
        </p:txBody>
      </p:sp>
      <p:cxnSp>
        <p:nvCxnSpPr>
          <p:cNvPr id="43" name="Connector 42"/>
          <p:cNvCxnSpPr/>
          <p:nvPr/>
        </p:nvCxnSpPr>
        <p:spPr>
          <a:xfrm>
            <a:off x="914400" y="5129783"/>
            <a:ext cx="0" cy="219457"/>
          </a:xfrm>
          <a:prstGeom prst="line">
            <a:avLst/>
          </a:prstGeom>
          <a:ln w="19050">
            <a:solidFill>
              <a:srgbClr val="1E5BFF"/>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731520" y="4745736"/>
            <a:ext cx="384048" cy="384048"/>
          </a:xfrm>
          <a:prstGeom prst="ellipse">
            <a:avLst/>
          </a:prstGeom>
          <a:solidFill>
            <a:srgbClr val="1E5B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31520" y="4745736"/>
            <a:ext cx="384048" cy="384048"/>
          </a:xfrm>
          <a:prstGeom prst="rect">
            <a:avLst/>
          </a:prstGeom>
          <a:noFill/>
        </p:spPr>
        <p:txBody>
          <a:bodyPr wrap="square" lIns="0" rIns="0" tIns="0" bIns="0" anchor="ctr">
            <a:spAutoFit/>
          </a:bodyPr>
          <a:lstStyle/>
          <a:p>
            <a:pPr algn="ctr"/>
            <a:r>
              <a:rPr sz="1200" b="1" i="0">
                <a:solidFill>
                  <a:srgbClr val="FFFFFF"/>
                </a:solidFill>
                <a:latin typeface="Arial"/>
              </a:rPr>
              <a:t>5</a:t>
            </a:r>
          </a:p>
        </p:txBody>
      </p:sp>
      <p:sp>
        <p:nvSpPr>
          <p:cNvPr id="46" name="TextBox 45"/>
          <p:cNvSpPr txBox="1"/>
          <p:nvPr/>
        </p:nvSpPr>
        <p:spPr>
          <a:xfrm>
            <a:off x="1325880" y="4727448"/>
            <a:ext cx="4389120" cy="502920"/>
          </a:xfrm>
          <a:prstGeom prst="rect">
            <a:avLst/>
          </a:prstGeom>
          <a:noFill/>
        </p:spPr>
        <p:txBody>
          <a:bodyPr wrap="square" lIns="0" rIns="0" tIns="0" bIns="0" anchor="t">
            <a:spAutoFit/>
          </a:bodyPr>
          <a:lstStyle/>
          <a:p>
            <a:pPr algn="l"/>
            <a:r>
              <a:rPr sz="1300" b="1" i="0">
                <a:solidFill>
                  <a:srgbClr val="FFFFFF"/>
                </a:solidFill>
                <a:latin typeface="Calibri"/>
              </a:rPr>
              <a:t>Weighted consensus</a:t>
            </a:r>
          </a:p>
          <a:p>
            <a:pPr algn="l"/>
            <a:r>
              <a:rPr sz="1100" b="0" i="0">
                <a:solidFill>
                  <a:srgbClr val="9CC4FF"/>
                </a:solidFill>
                <a:latin typeface="Calibri"/>
              </a:rPr>
              <a:t>root cause + sub-cause + confidence + review flag</a:t>
            </a:r>
          </a:p>
        </p:txBody>
      </p:sp>
      <p:sp>
        <p:nvSpPr>
          <p:cNvPr id="47" name="Oval 46"/>
          <p:cNvSpPr/>
          <p:nvPr/>
        </p:nvSpPr>
        <p:spPr>
          <a:xfrm>
            <a:off x="731520" y="5349240"/>
            <a:ext cx="384048" cy="384048"/>
          </a:xfrm>
          <a:prstGeom prst="ellipse">
            <a:avLst/>
          </a:prstGeom>
          <a:solidFill>
            <a:srgbClr val="1E5B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31520" y="5349240"/>
            <a:ext cx="384048" cy="384048"/>
          </a:xfrm>
          <a:prstGeom prst="rect">
            <a:avLst/>
          </a:prstGeom>
          <a:noFill/>
        </p:spPr>
        <p:txBody>
          <a:bodyPr wrap="square" lIns="0" rIns="0" tIns="0" bIns="0" anchor="ctr">
            <a:spAutoFit/>
          </a:bodyPr>
          <a:lstStyle/>
          <a:p>
            <a:pPr algn="ctr"/>
            <a:r>
              <a:rPr sz="1200" b="1" i="0">
                <a:solidFill>
                  <a:srgbClr val="FFFFFF"/>
                </a:solidFill>
                <a:latin typeface="Arial"/>
              </a:rPr>
              <a:t>6</a:t>
            </a:r>
          </a:p>
        </p:txBody>
      </p:sp>
      <p:sp>
        <p:nvSpPr>
          <p:cNvPr id="49" name="TextBox 48"/>
          <p:cNvSpPr txBox="1"/>
          <p:nvPr/>
        </p:nvSpPr>
        <p:spPr>
          <a:xfrm>
            <a:off x="1325880" y="5330952"/>
            <a:ext cx="4389120" cy="502920"/>
          </a:xfrm>
          <a:prstGeom prst="rect">
            <a:avLst/>
          </a:prstGeom>
          <a:noFill/>
        </p:spPr>
        <p:txBody>
          <a:bodyPr wrap="square" lIns="0" rIns="0" tIns="0" bIns="0" anchor="t">
            <a:spAutoFit/>
          </a:bodyPr>
          <a:lstStyle/>
          <a:p>
            <a:pPr algn="l"/>
            <a:r>
              <a:rPr sz="1300" b="1" i="0">
                <a:solidFill>
                  <a:srgbClr val="FFFFFF"/>
                </a:solidFill>
                <a:latin typeface="Calibri"/>
              </a:rPr>
              <a:t>Prescribe &amp; re-test</a:t>
            </a:r>
          </a:p>
          <a:p>
            <a:pPr algn="l"/>
            <a:r>
              <a:rPr sz="1100" b="0" i="0">
                <a:solidFill>
                  <a:srgbClr val="9CC4FF"/>
                </a:solidFill>
                <a:latin typeface="Calibri"/>
              </a:rPr>
              <a:t>config patch → re-run failures → before / after diff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60120"/>
            <a:ext cx="11274552" cy="731520"/>
          </a:xfrm>
          <a:prstGeom prst="rect">
            <a:avLst/>
          </a:prstGeom>
          <a:noFill/>
          <a:ln/>
        </p:spPr>
        <p:txBody>
          <a:bodyPr wrap="square" lIns="0" tIns="0" rIns="0" bIns="0" rtlCol="0" anchor="ctr"/>
          <a:lstStyle/>
          <a:p>
            <a:pPr marL="0" indent="0">
              <a:buNone/>
            </a:pPr>
            <a:r>
              <a:rPr lang="en-US" sz="3600" b="1" kern="0" spc="200" dirty="0">
                <a:solidFill>
                  <a:srgbClr val="FFFFFF"/>
                </a:solidFill>
                <a:latin typeface="Arial" pitchFamily="34" charset="0"/>
                <a:ea typeface="Arial" pitchFamily="34" charset="-122"/>
                <a:cs typeface="Arial" pitchFamily="34" charset="-120"/>
              </a:rPr>
              <a:t>USER EXPERIENCE &amp; DESIGN</a:t>
            </a:r>
            <a:endParaRPr lang="en-US" sz="3600" dirty="0"/>
          </a:p>
        </p:txBody>
      </p:sp>
      <p:sp>
        <p:nvSpPr>
          <p:cNvPr id="3" name="Team tag"/>
          <p:cNvSpPr txBox="1"/>
          <p:nvPr/>
        </p:nvSpPr>
        <p:spPr>
          <a:xfrm>
            <a:off x="8503920" y="1097280"/>
            <a:ext cx="3227832" cy="320040"/>
          </a:xfrm>
          <a:prstGeom prst="rect">
            <a:avLst/>
          </a:prstGeom>
          <a:noFill/>
          <a:ln/>
        </p:spPr>
        <p:txBody>
          <a:bodyPr wrap="square" lIns="0" tIns="0" rIns="0" bIns="0" rtlCol="0" anchor="ctr"/>
          <a:lstStyle/>
          <a:p>
            <a:pPr marL="0" indent="0" algn="r">
              <a:buNone/>
            </a:pPr>
            <a:r>
              <a:rPr lang="en-US" sz="1200" dirty="0">
                <a:solidFill>
                  <a:srgbClr val="9CC4FF"/>
                </a:solidFill>
                <a:latin typeface="Calibri" pitchFamily="34" charset="0"/>
                <a:ea typeface="Calibri" pitchFamily="34" charset="-122"/>
                <a:cs typeface="Calibri" pitchFamily="34" charset="-120"/>
              </a:rPr>
              <a:t>Team Name  |  Team ID</a:t>
            </a:r>
            <a:endParaRPr lang="en-US" sz="1200" dirty="0"/>
          </a:p>
        </p:txBody>
      </p:sp>
      <p:sp>
        <p:nvSpPr>
          <p:cNvPr id="4" name="UI card"/>
          <p:cNvSpPr/>
          <p:nvPr/>
        </p:nvSpPr>
        <p:spPr>
          <a:xfrm>
            <a:off x="457200" y="1691640"/>
            <a:ext cx="3657600" cy="4434840"/>
          </a:xfrm>
          <a:prstGeom prst="roundRect">
            <a:avLst>
              <a:gd name="adj" fmla="val 3000"/>
            </a:avLst>
          </a:prstGeom>
          <a:solidFill>
            <a:srgbClr val="0B1A4A">
              <a:alpha val="75000"/>
            </a:srgbClr>
          </a:solidFill>
          <a:ln w="12700">
            <a:solidFill>
              <a:srgbClr val="1E5BFF"/>
            </a:solidFill>
            <a:prstDash val="solid"/>
          </a:ln>
        </p:spPr>
      </p:sp>
      <p:sp>
        <p:nvSpPr>
          <p:cNvPr id="5" name="UI head"/>
          <p:cNvSpPr txBox="1"/>
          <p:nvPr/>
        </p:nvSpPr>
        <p:spPr>
          <a:xfrm>
            <a:off x="731520" y="1874520"/>
            <a:ext cx="31089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USER INTERFACE</a:t>
            </a:r>
            <a:endParaRPr lang="en-US" sz="1500" dirty="0"/>
          </a:p>
        </p:txBody>
      </p:sp>
      <p:sp>
        <p:nvSpPr>
          <p:cNvPr id="6" name="UI body"/>
          <p:cNvSpPr txBox="1"/>
          <p:nvPr/>
        </p:nvSpPr>
        <p:spPr>
          <a:xfrm>
            <a:off x="731520" y="2286000"/>
            <a:ext cx="3108960" cy="2514600"/>
          </a:xfrm>
          <a:prstGeom prst="rect">
            <a:avLst/>
          </a:prstGeom>
          <a:noFill/>
          <a:ln/>
        </p:spPr>
        <p:txBody>
          <a:bodyPr wrap="square" lIns="0" tIns="0" rIns="0" bIns="0" rtlCol="0" anchor="t"/>
          <a:lstStyle/>
          <a:p>
            <a:pPr marL="342900" indent="-342900">
              <a:spcAft>
                <a:spcPts val="600"/>
              </a:spcAft>
              <a:buSzPct val="100000"/>
              <a:buChar char="•"/>
            </a:pPr>
            <a:r>
              <a:rPr lang="en-US" sz="1250" dirty="0" b="1">
                <a:solidFill>
                  <a:srgbClr val="FFFFFF"/>
                </a:solidFill>
                <a:latin typeface="Calibri" pitchFamily="34" charset="0"/>
                <a:ea typeface="Calibri" pitchFamily="34" charset="-122"/>
                <a:cs typeface="Calibri" pitchFamily="34" charset="-120"/>
              </a:rPr>
              <a:t>Upload: </a:t>
            </a:r>
            <a:r>
              <a:rPr lang="en-US" sz="1250" dirty="0">
                <a:solidFill>
                  <a:srgbClr val="FFFFFF"/>
                </a:solidFill>
                <a:latin typeface="Calibri" pitchFamily="34" charset="0"/>
                <a:ea typeface="Calibri" pitchFamily="34" charset="-122"/>
                <a:cs typeface="Calibri" pitchFamily="34" charset="-120"/>
              </a:rPr>
              <a:t>PDF, Word, Markdown or text on the live site, with progress and file confirmation</a:t>
            </a:r>
            <a:endParaRPr lang="en-US" sz="1400" dirty="0"/>
          </a:p>
          <a:p>
            <a:pPr marL="342900" indent="-342900">
              <a:spcAft>
                <a:spcPts val="600"/>
              </a:spcAft>
              <a:buSzPct val="100000"/>
              <a:buChar char="•"/>
            </a:pPr>
            <a:r>
              <a:rPr lang="en-US" sz="1250" dirty="0" b="1">
                <a:solidFill>
                  <a:srgbClr val="FFFFFF"/>
                </a:solidFill>
                <a:latin typeface="Calibri" pitchFamily="34" charset="0"/>
                <a:ea typeface="Calibri" pitchFamily="34" charset="-122"/>
                <a:cs typeface="Calibri" pitchFamily="34" charset="-120"/>
              </a:rPr>
              <a:t>Overview: </a:t>
            </a:r>
            <a:r>
              <a:rPr lang="en-US" sz="1250" dirty="0">
                <a:solidFill>
                  <a:srgbClr val="FFFFFF"/>
                </a:solidFill>
                <a:latin typeface="Calibri" pitchFamily="34" charset="0"/>
                <a:ea typeface="Calibri" pitchFamily="34" charset="-122"/>
                <a:cs typeface="Calibri" pitchFamily="34" charset="-120"/>
              </a:rPr>
              <a:t>4 scorecards with 95% CIs, root-cause mix, LLM cost</a:t>
            </a:r>
            <a:endParaRPr lang="en-US" sz="1400" dirty="0"/>
          </a:p>
          <a:p>
            <a:pPr marL="342900" indent="-342900">
              <a:spcAft>
                <a:spcPts val="600"/>
              </a:spcAft>
              <a:buSzPct val="100000"/>
              <a:buChar char="•"/>
            </a:pPr>
            <a:r>
              <a:rPr lang="en-US" sz="1250" dirty="0" b="1">
                <a:solidFill>
                  <a:srgbClr val="FFFFFF"/>
                </a:solidFill>
                <a:latin typeface="Calibri" pitchFamily="34" charset="0"/>
                <a:ea typeface="Calibri" pitchFamily="34" charset="-122"/>
                <a:cs typeface="Calibri" pitchFamily="34" charset="-120"/>
              </a:rPr>
              <a:t>Autopsy: </a:t>
            </a:r>
            <a:r>
              <a:rPr lang="en-US" sz="1250" dirty="0">
                <a:solidFill>
                  <a:srgbClr val="FFFFFF"/>
                </a:solidFill>
                <a:latin typeface="Calibri" pitchFamily="34" charset="0"/>
                <a:ea typeface="Calibri" pitchFamily="34" charset="-122"/>
                <a:cs typeface="Calibri" pitchFamily="34" charset="-120"/>
              </a:rPr>
              <a:t>answer sentences green / red, ranked chunks with gold outlined</a:t>
            </a:r>
            <a:endParaRPr lang="en-US" sz="1400" dirty="0"/>
          </a:p>
          <a:p>
            <a:pPr marL="342900" indent="-342900">
              <a:spcAft>
                <a:spcPts val="600"/>
              </a:spcAft>
              <a:buSzPct val="100000"/>
              <a:buChar char="•"/>
            </a:pPr>
            <a:r>
              <a:rPr lang="en-US" sz="1250" dirty="0" b="1">
                <a:solidFill>
                  <a:srgbClr val="FFFFFF"/>
                </a:solidFill>
                <a:latin typeface="Calibri" pitchFamily="34" charset="0"/>
                <a:ea typeface="Calibri" pitchFamily="34" charset="-122"/>
                <a:cs typeface="Calibri" pitchFamily="34" charset="-120"/>
              </a:rPr>
              <a:t>Tabs: </a:t>
            </a:r>
            <a:r>
              <a:rPr lang="en-US" sz="1250" dirty="0">
                <a:solidFill>
                  <a:srgbClr val="FFFFFF"/>
                </a:solidFill>
                <a:latin typeface="Calibri" pitchFamily="34" charset="0"/>
                <a:ea typeface="Calibri" pitchFamily="34" charset="-122"/>
                <a:cs typeface="Calibri" pitchFamily="34" charset="-120"/>
              </a:rPr>
              <a:t>evidence · lens votes · counterfactual proof</a:t>
            </a:r>
            <a:endParaRPr lang="en-US" sz="1400" dirty="0"/>
          </a:p>
        </p:txBody>
      </p:sp>
      <p:sp>
        <p:nvSpPr>
          <p:cNvPr id="7" name="Flow card"/>
          <p:cNvSpPr/>
          <p:nvPr/>
        </p:nvSpPr>
        <p:spPr>
          <a:xfrm>
            <a:off x="4270248" y="1691640"/>
            <a:ext cx="3657600" cy="4434840"/>
          </a:xfrm>
          <a:prstGeom prst="roundRect">
            <a:avLst>
              <a:gd name="adj" fmla="val 3000"/>
            </a:avLst>
          </a:prstGeom>
          <a:solidFill>
            <a:srgbClr val="0B1A4A">
              <a:alpha val="75000"/>
            </a:srgbClr>
          </a:solidFill>
          <a:ln w="12700">
            <a:solidFill>
              <a:srgbClr val="1E5BFF"/>
            </a:solidFill>
            <a:prstDash val="solid"/>
          </a:ln>
        </p:spPr>
      </p:sp>
      <p:sp>
        <p:nvSpPr>
          <p:cNvPr id="8" name="Flow head"/>
          <p:cNvSpPr txBox="1"/>
          <p:nvPr/>
        </p:nvSpPr>
        <p:spPr>
          <a:xfrm>
            <a:off x="4544568" y="1874520"/>
            <a:ext cx="31089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USER FLOW</a:t>
            </a:r>
            <a:endParaRPr lang="en-US" sz="1500" dirty="0"/>
          </a:p>
        </p:txBody>
      </p:sp>
      <p:sp>
        <p:nvSpPr>
          <p:cNvPr id="9" name="Flow dot 1"/>
          <p:cNvSpPr/>
          <p:nvPr/>
        </p:nvSpPr>
        <p:spPr>
          <a:xfrm>
            <a:off x="4544568" y="2331720"/>
            <a:ext cx="502920" cy="502920"/>
          </a:xfrm>
          <a:prstGeom prst="ellipse">
            <a:avLst/>
          </a:prstGeom>
          <a:solidFill>
            <a:schemeClr val="accent1"/>
          </a:solidFill>
          <a:ln w="12700">
            <a:solidFill>
              <a:srgbClr val="FFFFFF"/>
            </a:solidFill>
            <a:prstDash val="solid"/>
          </a:ln>
        </p:spPr>
      </p:sp>
      <p:sp>
        <p:nvSpPr>
          <p:cNvPr id="10" name="Text 8"/>
          <p:cNvSpPr txBox="1"/>
          <p:nvPr/>
        </p:nvSpPr>
        <p:spPr>
          <a:xfrm>
            <a:off x="4544568" y="23317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1" name="Text 9"/>
          <p:cNvSpPr txBox="1"/>
          <p:nvPr/>
        </p:nvSpPr>
        <p:spPr>
          <a:xfrm>
            <a:off x="5212080" y="2286000"/>
            <a:ext cx="2560320" cy="5943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Upload your documents (PDF, Word, MD) or try the demo</a:t>
            </a:r>
            <a:endParaRPr lang="en-US" sz="1400" dirty="0"/>
          </a:p>
        </p:txBody>
      </p:sp>
      <p:sp>
        <p:nvSpPr>
          <p:cNvPr id="12" name="Flow dot 2"/>
          <p:cNvSpPr/>
          <p:nvPr/>
        </p:nvSpPr>
        <p:spPr>
          <a:xfrm>
            <a:off x="4544568" y="3520440"/>
            <a:ext cx="502920" cy="502920"/>
          </a:xfrm>
          <a:prstGeom prst="ellipse">
            <a:avLst/>
          </a:prstGeom>
          <a:solidFill>
            <a:schemeClr val="accent1"/>
          </a:solidFill>
          <a:ln w="12700">
            <a:solidFill>
              <a:srgbClr val="FFFFFF"/>
            </a:solidFill>
            <a:prstDash val="solid"/>
          </a:ln>
        </p:spPr>
      </p:sp>
      <p:sp>
        <p:nvSpPr>
          <p:cNvPr id="13" name="Text 11"/>
          <p:cNvSpPr txBox="1"/>
          <p:nvPr/>
        </p:nvSpPr>
        <p:spPr>
          <a:xfrm>
            <a:off x="4544568" y="35204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 12"/>
          <p:cNvSpPr txBox="1"/>
          <p:nvPr/>
        </p:nvSpPr>
        <p:spPr>
          <a:xfrm>
            <a:off x="5212080" y="3474720"/>
            <a:ext cx="2560320" cy="5943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Run evaluation: every failure gets a root cause</a:t>
            </a:r>
            <a:endParaRPr lang="en-US" sz="1400" dirty="0"/>
          </a:p>
        </p:txBody>
      </p:sp>
      <p:sp>
        <p:nvSpPr>
          <p:cNvPr id="15" name="Flow dot 3"/>
          <p:cNvSpPr/>
          <p:nvPr/>
        </p:nvSpPr>
        <p:spPr>
          <a:xfrm>
            <a:off x="4544568" y="4709160"/>
            <a:ext cx="502920" cy="502920"/>
          </a:xfrm>
          <a:prstGeom prst="ellipse">
            <a:avLst/>
          </a:prstGeom>
          <a:solidFill>
            <a:schemeClr val="accent1"/>
          </a:solidFill>
          <a:ln w="12700">
            <a:solidFill>
              <a:srgbClr val="FFFFFF"/>
            </a:solidFill>
            <a:prstDash val="solid"/>
          </a:ln>
        </p:spPr>
      </p:sp>
      <p:sp>
        <p:nvSpPr>
          <p:cNvPr id="16" name="Text 14"/>
          <p:cNvSpPr txBox="1"/>
          <p:nvPr/>
        </p:nvSpPr>
        <p:spPr>
          <a:xfrm>
            <a:off x="4544568" y="47091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5212080" y="4663440"/>
            <a:ext cx="2560320" cy="5943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Apply the prescribed fix and compare before vs after</a:t>
            </a:r>
            <a:endParaRPr lang="en-US" sz="1400" dirty="0"/>
          </a:p>
        </p:txBody>
      </p:sp>
      <p:sp>
        <p:nvSpPr>
          <p:cNvPr id="18" name="Goal card"/>
          <p:cNvSpPr/>
          <p:nvPr/>
        </p:nvSpPr>
        <p:spPr>
          <a:xfrm>
            <a:off x="8074152" y="1691640"/>
            <a:ext cx="3657600" cy="4434840"/>
          </a:xfrm>
          <a:prstGeom prst="roundRect">
            <a:avLst>
              <a:gd name="adj" fmla="val 3000"/>
            </a:avLst>
          </a:prstGeom>
          <a:solidFill>
            <a:srgbClr val="0B1A4A">
              <a:alpha val="75000"/>
            </a:srgbClr>
          </a:solidFill>
          <a:ln w="12700">
            <a:solidFill>
              <a:srgbClr val="1E5BFF"/>
            </a:solidFill>
            <a:prstDash val="solid"/>
          </a:ln>
        </p:spPr>
      </p:sp>
      <p:sp>
        <p:nvSpPr>
          <p:cNvPr id="19" name="Goal head"/>
          <p:cNvSpPr txBox="1"/>
          <p:nvPr/>
        </p:nvSpPr>
        <p:spPr>
          <a:xfrm>
            <a:off x="8348472" y="1874520"/>
            <a:ext cx="31089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DESIGN GOAL</a:t>
            </a:r>
            <a:endParaRPr lang="en-US" sz="1500" dirty="0"/>
          </a:p>
        </p:txBody>
      </p:sp>
      <p:sp>
        <p:nvSpPr>
          <p:cNvPr id="20" name="Goal body"/>
          <p:cNvSpPr txBox="1"/>
          <p:nvPr/>
        </p:nvSpPr>
        <p:spPr>
          <a:xfrm>
            <a:off x="8348472" y="2286000"/>
            <a:ext cx="3108960" cy="146304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Any engineer sees, in under a minute, why each answer failed and exactly what to change.</a:t>
            </a:r>
            <a:endParaRPr lang="en-US" sz="1400" dirty="0"/>
          </a:p>
        </p:txBody>
      </p:sp>
      <p:sp>
        <p:nvSpPr>
          <p:cNvPr id="25" name="Slide Number Placeholder 0"/>
          <p:cNvSpPr>
            <a:spLocks noGrp="1"/>
          </p:cNvSpPr>
          <p:nvPr>
            <p:ph type="sldNum" sz="quarter" idx="4294967295"/>
          </p:nvPr>
        </p:nvSpPr>
        <p:spPr>
          <a:xfrm>
            <a:off x="1115568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C4FF"/>
                </a:solidFill>
                <a:latin typeface="Arial"/>
                <a:ea typeface="Arial"/>
                <a:cs typeface="Arial"/>
              </a:defRPr>
            </a:lvl1pPr>
          </a:lstStyle>
          <a:p>
            <a:pPr algn="r"/>
            <a:fld id="{F7021451-1387-4CA6-816F-3879F97B5CBC}" type="slidenum">
              <a:rPr lang="en-US" b="0"/>
              <a:t>4</a:t>
            </a:fld>
            <a:endParaRPr lang="en-US"/>
          </a:p>
        </p:txBody>
      </p:sp>
      <p:pic>
        <p:nvPicPr>
          <p:cNvPr id="26" name="Picture 25" descr="dash_upload.png"/>
          <p:cNvPicPr>
            <a:picLocks noChangeAspect="1"/>
          </p:cNvPicPr>
          <p:nvPr/>
        </p:nvPicPr>
        <p:blipFill>
          <a:blip r:embed="rId3"/>
          <a:stretch>
            <a:fillRect/>
          </a:stretch>
        </p:blipFill>
        <p:spPr>
          <a:xfrm>
            <a:off x="731520" y="4846320"/>
            <a:ext cx="3108960" cy="1001191"/>
          </a:xfrm>
          <a:prstGeom prst="rect">
            <a:avLst/>
          </a:prstGeom>
        </p:spPr>
      </p:pic>
      <p:sp>
        <p:nvSpPr>
          <p:cNvPr id="27" name="Live demo link"/>
          <p:cNvSpPr txBox="1"/>
          <p:nvPr/>
        </p:nvSpPr>
        <p:spPr>
          <a:xfrm>
            <a:off x="731520" y="4370832"/>
            <a:ext cx="3108960" cy="365760"/>
          </a:xfrm>
          <a:prstGeom prst="rect">
            <a:avLst/>
          </a:prstGeom>
          <a:noFill/>
        </p:spPr>
        <p:txBody>
          <a:bodyPr wrap="square" lIns="0" rIns="0" tIns="0" bIns="0" anchor="t">
            <a:spAutoFit/>
          </a:bodyPr>
          <a:lstStyle/>
          <a:p>
            <a:pPr algn="l"/>
            <a:r>
              <a:rPr sz="1250" b="1" i="0">
                <a:solidFill>
                  <a:srgbClr val="4DA3FF"/>
                </a:solidFill>
                <a:latin typeface="Calibri"/>
              </a:rPr>
              <a:t>▶  Upload live: </a:t>
            </a:r>
            <a:r>
              <a:rPr sz="1250" b="1" i="0">
                <a:solidFill>
                  <a:srgbClr val="FFFFFF"/>
                </a:solidFill>
                <a:latin typeface="Calibri"/>
                <a:hlinkClick r:id="rId4"/>
              </a:rPr>
              <a:t>rag-autopsy.vercel.app</a:t>
            </a:r>
          </a:p>
        </p:txBody>
      </p:sp>
      <p:pic>
        <p:nvPicPr>
          <p:cNvPr id="28" name="Picture 27" descr="dash_autopsy.png"/>
          <p:cNvPicPr>
            <a:picLocks noChangeAspect="1"/>
          </p:cNvPicPr>
          <p:nvPr/>
        </p:nvPicPr>
        <p:blipFill>
          <a:blip r:embed="rId5"/>
          <a:stretch>
            <a:fillRect/>
          </a:stretch>
        </p:blipFill>
        <p:spPr>
          <a:xfrm>
            <a:off x="8348472" y="3840480"/>
            <a:ext cx="3108960" cy="18295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960120"/>
            <a:ext cx="11274552" cy="731520"/>
          </a:xfrm>
          <a:prstGeom prst="rect">
            <a:avLst/>
          </a:prstGeom>
          <a:noFill/>
          <a:ln/>
        </p:spPr>
        <p:txBody>
          <a:bodyPr wrap="square" lIns="0" tIns="0" rIns="0" bIns="0" rtlCol="0" anchor="ctr"/>
          <a:lstStyle/>
          <a:p>
            <a:pPr marL="0" indent="0">
              <a:buNone/>
            </a:pPr>
            <a:r>
              <a:rPr lang="en-US" sz="3600" b="1" kern="0" spc="200" dirty="0">
                <a:solidFill>
                  <a:srgbClr val="FFFFFF"/>
                </a:solidFill>
                <a:latin typeface="Arial" pitchFamily="34" charset="0"/>
                <a:ea typeface="Arial" pitchFamily="34" charset="-122"/>
                <a:cs typeface="Arial" pitchFamily="34" charset="-120"/>
              </a:rPr>
              <a:t>FEASIBILITY AND VIABILITY</a:t>
            </a:r>
            <a:endParaRPr lang="en-US" sz="3600" dirty="0"/>
          </a:p>
        </p:txBody>
      </p:sp>
      <p:sp>
        <p:nvSpPr>
          <p:cNvPr id="3" name="Team tag"/>
          <p:cNvSpPr txBox="1"/>
          <p:nvPr/>
        </p:nvSpPr>
        <p:spPr>
          <a:xfrm>
            <a:off x="8503920" y="1097280"/>
            <a:ext cx="3227832" cy="320040"/>
          </a:xfrm>
          <a:prstGeom prst="rect">
            <a:avLst/>
          </a:prstGeom>
          <a:noFill/>
          <a:ln/>
        </p:spPr>
        <p:txBody>
          <a:bodyPr wrap="square" lIns="0" tIns="0" rIns="0" bIns="0" rtlCol="0" anchor="ctr"/>
          <a:lstStyle/>
          <a:p>
            <a:pPr marL="0" indent="0" algn="r">
              <a:buNone/>
            </a:pPr>
            <a:r>
              <a:rPr lang="en-US" sz="1200" dirty="0">
                <a:solidFill>
                  <a:srgbClr val="9CC4FF"/>
                </a:solidFill>
                <a:latin typeface="Calibri" pitchFamily="34" charset="0"/>
                <a:ea typeface="Calibri" pitchFamily="34" charset="-122"/>
                <a:cs typeface="Calibri" pitchFamily="34" charset="-120"/>
              </a:rPr>
              <a:t>Team Name  |  Team ID</a:t>
            </a:r>
            <a:endParaRPr lang="en-US" sz="1200" dirty="0"/>
          </a:p>
        </p:txBody>
      </p:sp>
      <p:sp>
        <p:nvSpPr>
          <p:cNvPr id="4" name="Technical Feasibility card"/>
          <p:cNvSpPr/>
          <p:nvPr/>
        </p:nvSpPr>
        <p:spPr>
          <a:xfrm>
            <a:off x="457200" y="1691640"/>
            <a:ext cx="3657600" cy="4434840"/>
          </a:xfrm>
          <a:prstGeom prst="roundRect">
            <a:avLst>
              <a:gd name="adj" fmla="val 3000"/>
            </a:avLst>
          </a:prstGeom>
          <a:solidFill>
            <a:srgbClr val="0B1A4A">
              <a:alpha val="75000"/>
            </a:srgbClr>
          </a:solidFill>
          <a:ln w="12700">
            <a:solidFill>
              <a:srgbClr val="1E5BFF"/>
            </a:solidFill>
            <a:prstDash val="solid"/>
          </a:ln>
        </p:spPr>
      </p:sp>
      <p:sp>
        <p:nvSpPr>
          <p:cNvPr id="5" name="Technical Feasibility head"/>
          <p:cNvSpPr txBox="1"/>
          <p:nvPr/>
        </p:nvSpPr>
        <p:spPr>
          <a:xfrm>
            <a:off x="731520" y="1874520"/>
            <a:ext cx="31089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TECHNICAL FEASIBILITY</a:t>
            </a:r>
            <a:endParaRPr lang="en-US" sz="1500" dirty="0"/>
          </a:p>
        </p:txBody>
      </p:sp>
      <p:sp>
        <p:nvSpPr>
          <p:cNvPr id="6" name="Technical Feasibility body"/>
          <p:cNvSpPr txBox="1"/>
          <p:nvPr/>
        </p:nvSpPr>
        <p:spPr>
          <a:xfrm>
            <a:off x="731520" y="2377440"/>
            <a:ext cx="310896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Working prototype, </a:t>
            </a:r>
            <a:r>
              <a:rPr lang="en-US" sz="1300" dirty="0">
                <a:solidFill>
                  <a:srgbClr val="FFFFFF"/>
                </a:solidFill>
                <a:latin typeface="Calibri" pitchFamily="34" charset="0"/>
                <a:ea typeface="Calibri" pitchFamily="34" charset="-122"/>
                <a:cs typeface="Calibri" pitchFamily="34" charset="-120"/>
              </a:rPr>
              <a:t>end to end: ingest → test set → diagnosis → verified fix</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Runs on a CPU laptop: </a:t>
            </a:r>
            <a:r>
              <a:rPr lang="en-US" sz="1300" dirty="0">
                <a:solidFill>
                  <a:srgbClr val="FFFFFF"/>
                </a:solidFill>
                <a:latin typeface="Calibri" pitchFamily="34" charset="0"/>
                <a:ea typeface="Calibri" pitchFamily="34" charset="-122"/>
                <a:cs typeface="Calibri" pitchFamily="34" charset="-120"/>
              </a:rPr>
              <a:t>16 GB RAM, local models &lt; 2 GB</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Modular: </a:t>
            </a:r>
            <a:r>
              <a:rPr lang="en-US" sz="1300" dirty="0">
                <a:solidFill>
                  <a:srgbClr val="FFFFFF"/>
                </a:solidFill>
                <a:latin typeface="Calibri" pitchFamily="34" charset="0"/>
                <a:ea typeface="Calibri" pitchFamily="34" charset="-122"/>
                <a:cs typeface="Calibri" pitchFamily="34" charset="-120"/>
              </a:rPr>
              <a:t>a new check is one file; swap in any OpenAI-compatible LLM</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25 unit tests, </a:t>
            </a:r>
            <a:r>
              <a:rPr lang="en-US" sz="1300" dirty="0">
                <a:solidFill>
                  <a:srgbClr val="FFFFFF"/>
                </a:solidFill>
                <a:latin typeface="Calibri" pitchFamily="34" charset="0"/>
                <a:ea typeface="Calibri" pitchFamily="34" charset="-122"/>
                <a:cs typeface="Calibri" pitchFamily="34" charset="-120"/>
              </a:rPr>
              <a:t>LLM mocked</a:t>
            </a:r>
            <a:endParaRPr lang="en-US" sz="1400" dirty="0"/>
          </a:p>
        </p:txBody>
      </p:sp>
      <p:sp>
        <p:nvSpPr>
          <p:cNvPr id="7" name="Economic Feasibility card"/>
          <p:cNvSpPr/>
          <p:nvPr/>
        </p:nvSpPr>
        <p:spPr>
          <a:xfrm>
            <a:off x="4270248" y="1691640"/>
            <a:ext cx="3657600" cy="4434840"/>
          </a:xfrm>
          <a:prstGeom prst="roundRect">
            <a:avLst>
              <a:gd name="adj" fmla="val 3000"/>
            </a:avLst>
          </a:prstGeom>
          <a:solidFill>
            <a:srgbClr val="0B1A4A">
              <a:alpha val="75000"/>
            </a:srgbClr>
          </a:solidFill>
          <a:ln w="12700">
            <a:solidFill>
              <a:srgbClr val="1E5BFF"/>
            </a:solidFill>
            <a:prstDash val="solid"/>
          </a:ln>
        </p:spPr>
      </p:sp>
      <p:sp>
        <p:nvSpPr>
          <p:cNvPr id="8" name="Economic Feasibility head"/>
          <p:cNvSpPr txBox="1"/>
          <p:nvPr/>
        </p:nvSpPr>
        <p:spPr>
          <a:xfrm>
            <a:off x="4544568" y="1874520"/>
            <a:ext cx="31089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ECONOMIC FEASIBILITY</a:t>
            </a:r>
            <a:endParaRPr lang="en-US" sz="1500" dirty="0"/>
          </a:p>
        </p:txBody>
      </p:sp>
      <p:sp>
        <p:nvSpPr>
          <p:cNvPr id="9" name="Economic Feasibility body"/>
          <p:cNvSpPr txBox="1"/>
          <p:nvPr/>
        </p:nvSpPr>
        <p:spPr>
          <a:xfrm>
            <a:off x="4544568" y="2377440"/>
            <a:ext cx="310896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₹0 prototype: </a:t>
            </a:r>
            <a:r>
              <a:rPr lang="en-US" sz="1300" dirty="0">
                <a:solidFill>
                  <a:srgbClr val="FFFFFF"/>
                </a:solidFill>
                <a:latin typeface="Calibri" pitchFamily="34" charset="0"/>
                <a:ea typeface="Calibri" pitchFamily="34" charset="-122"/>
                <a:cs typeface="Calibri" pitchFamily="34" charset="-120"/>
              </a:rPr>
              <a:t>free tiers and open models only</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0.36 LLM calls per question, </a:t>
            </a:r>
            <a:r>
              <a:rPr lang="en-US" sz="1300" dirty="0">
                <a:solidFill>
                  <a:srgbClr val="FFFFFF"/>
                </a:solidFill>
                <a:latin typeface="Calibri" pitchFamily="34" charset="0"/>
                <a:ea typeface="Calibri" pitchFamily="34" charset="-122"/>
                <a:cs typeface="Calibri" pitchFamily="34" charset="-120"/>
              </a:rPr>
              <a:t>81% settled locally</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Every call is disk-cached: </a:t>
            </a:r>
            <a:r>
              <a:rPr lang="en-US" sz="1300" dirty="0">
                <a:solidFill>
                  <a:srgbClr val="FFFFFF"/>
                </a:solidFill>
                <a:latin typeface="Calibri" pitchFamily="34" charset="0"/>
                <a:ea typeface="Calibri" pitchFamily="34" charset="-122"/>
                <a:cs typeface="Calibri" pitchFamily="34" charset="-120"/>
              </a:rPr>
              <a:t>re-runs are free; the full demo replays in 51 s</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Costs scale with questions, </a:t>
            </a:r>
            <a:r>
              <a:rPr lang="en-US" sz="1300" dirty="0">
                <a:solidFill>
                  <a:srgbClr val="FFFFFF"/>
                </a:solidFill>
                <a:latin typeface="Calibri" pitchFamily="34" charset="0"/>
                <a:ea typeface="Calibri" pitchFamily="34" charset="-122"/>
                <a:cs typeface="Calibri" pitchFamily="34" charset="-120"/>
              </a:rPr>
              <a:t>not with users</a:t>
            </a:r>
            <a:endParaRPr lang="en-US" sz="1400" dirty="0"/>
          </a:p>
        </p:txBody>
      </p:sp>
      <p:sp>
        <p:nvSpPr>
          <p:cNvPr id="10" name="Operational Viability card"/>
          <p:cNvSpPr/>
          <p:nvPr/>
        </p:nvSpPr>
        <p:spPr>
          <a:xfrm>
            <a:off x="8083296" y="1691640"/>
            <a:ext cx="3657600" cy="4434840"/>
          </a:xfrm>
          <a:prstGeom prst="roundRect">
            <a:avLst>
              <a:gd name="adj" fmla="val 3000"/>
            </a:avLst>
          </a:prstGeom>
          <a:solidFill>
            <a:srgbClr val="0B1A4A">
              <a:alpha val="75000"/>
            </a:srgbClr>
          </a:solidFill>
          <a:ln w="12700">
            <a:solidFill>
              <a:srgbClr val="1E5BFF"/>
            </a:solidFill>
            <a:prstDash val="solid"/>
          </a:ln>
        </p:spPr>
      </p:sp>
      <p:sp>
        <p:nvSpPr>
          <p:cNvPr id="11" name="Operational Viability head"/>
          <p:cNvSpPr txBox="1"/>
          <p:nvPr/>
        </p:nvSpPr>
        <p:spPr>
          <a:xfrm>
            <a:off x="8357616" y="1874520"/>
            <a:ext cx="31089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OPERATIONAL VIABILITY</a:t>
            </a:r>
            <a:endParaRPr lang="en-US" sz="1500" dirty="0"/>
          </a:p>
        </p:txBody>
      </p:sp>
      <p:sp>
        <p:nvSpPr>
          <p:cNvPr id="12" name="Operational Viability body"/>
          <p:cNvSpPr txBox="1"/>
          <p:nvPr/>
        </p:nvSpPr>
        <p:spPr>
          <a:xfrm>
            <a:off x="8357616" y="2377440"/>
            <a:ext cx="310896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Deployed: </a:t>
            </a:r>
            <a:r>
              <a:rPr lang="en-US" sz="1300" dirty="0">
                <a:solidFill>
                  <a:srgbClr val="FFFFFF"/>
                </a:solidFill>
                <a:latin typeface="Calibri" pitchFamily="34" charset="0"/>
                <a:ea typeface="Calibri" pitchFamily="34" charset="-122"/>
                <a:cs typeface="Calibri" pitchFamily="34" charset="-120"/>
              </a:rPr>
              <a:t>dashboard on Vercel; backend via a secure Cloudflare tunnel; uploads capped at 3 files / 2 MB</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Data stays with the team's backend; </a:t>
            </a:r>
            <a:r>
              <a:rPr lang="en-US" sz="1300" dirty="0">
                <a:solidFill>
                  <a:srgbClr val="FFFFFF"/>
                </a:solidFill>
                <a:latin typeface="Calibri" pitchFamily="34" charset="0"/>
                <a:ea typeface="Calibri" pitchFamily="34" charset="-122"/>
                <a:cs typeface="Calibri" pitchFamily="34" charset="-120"/>
              </a:rPr>
              <a:t>only prompts reach the LLM API</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Risks: </a:t>
            </a:r>
            <a:r>
              <a:rPr lang="en-US" sz="1300" dirty="0">
                <a:solidFill>
                  <a:srgbClr val="FFFFFF"/>
                </a:solidFill>
                <a:latin typeface="Calibri" pitchFamily="34" charset="0"/>
                <a:ea typeface="Calibri" pitchFamily="34" charset="-122"/>
                <a:cs typeface="Calibri" pitchFamily="34" charset="-120"/>
              </a:rPr>
              <a:t>API rate limits, judge bias, imperfect generated questions</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Mitigations: </a:t>
            </a:r>
            <a:r>
              <a:rPr lang="en-US" sz="1300" dirty="0">
                <a:solidFill>
                  <a:srgbClr val="FFFFFF"/>
                </a:solidFill>
                <a:latin typeface="Calibri" pitchFamily="34" charset="0"/>
                <a:ea typeface="Calibri" pitchFamily="34" charset="-122"/>
                <a:cs typeface="Calibri" pitchFamily="34" charset="-120"/>
              </a:rPr>
              <a:t>rate-limit-aware retries + cache; format-tolerant parsing of model output; judge from a different model family; evidence-verified questions + human-review flags</a:t>
            </a:r>
            <a:endParaRPr lang="en-US" sz="1400" dirty="0"/>
          </a:p>
        </p:txBody>
      </p:sp>
      <p:sp>
        <p:nvSpPr>
          <p:cNvPr id="25" name="Slide Number Placeholder 0"/>
          <p:cNvSpPr>
            <a:spLocks noGrp="1"/>
          </p:cNvSpPr>
          <p:nvPr>
            <p:ph type="sldNum" sz="quarter" idx="4294967295"/>
          </p:nvPr>
        </p:nvSpPr>
        <p:spPr>
          <a:xfrm>
            <a:off x="1115568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C4FF"/>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960120"/>
            <a:ext cx="11274552" cy="731520"/>
          </a:xfrm>
          <a:prstGeom prst="rect">
            <a:avLst/>
          </a:prstGeom>
          <a:noFill/>
          <a:ln/>
        </p:spPr>
        <p:txBody>
          <a:bodyPr wrap="square" lIns="0" tIns="0" rIns="0" bIns="0" rtlCol="0" anchor="ctr"/>
          <a:lstStyle/>
          <a:p>
            <a:pPr marL="0" indent="0">
              <a:buNone/>
            </a:pPr>
            <a:r>
              <a:rPr lang="en-US" sz="3600" b="1" kern="0" spc="200" dirty="0">
                <a:solidFill>
                  <a:srgbClr val="FFFFFF"/>
                </a:solidFill>
                <a:latin typeface="Arial" pitchFamily="34" charset="0"/>
                <a:ea typeface="Arial" pitchFamily="34" charset="-122"/>
                <a:cs typeface="Arial" pitchFamily="34" charset="-120"/>
              </a:rPr>
              <a:t>IMPACT AND BENEFITS</a:t>
            </a:r>
            <a:endParaRPr lang="en-US" sz="3600" dirty="0"/>
          </a:p>
        </p:txBody>
      </p:sp>
      <p:sp>
        <p:nvSpPr>
          <p:cNvPr id="3" name="Team tag"/>
          <p:cNvSpPr txBox="1"/>
          <p:nvPr/>
        </p:nvSpPr>
        <p:spPr>
          <a:xfrm>
            <a:off x="8503920" y="1097280"/>
            <a:ext cx="3227832" cy="320040"/>
          </a:xfrm>
          <a:prstGeom prst="rect">
            <a:avLst/>
          </a:prstGeom>
          <a:noFill/>
          <a:ln/>
        </p:spPr>
        <p:txBody>
          <a:bodyPr wrap="square" lIns="0" tIns="0" rIns="0" bIns="0" rtlCol="0" anchor="ctr"/>
          <a:lstStyle/>
          <a:p>
            <a:pPr marL="0" indent="0" algn="r">
              <a:buNone/>
            </a:pPr>
            <a:r>
              <a:rPr lang="en-US" sz="1200" dirty="0">
                <a:solidFill>
                  <a:srgbClr val="9CC4FF"/>
                </a:solidFill>
                <a:latin typeface="Calibri" pitchFamily="34" charset="0"/>
                <a:ea typeface="Calibri" pitchFamily="34" charset="-122"/>
                <a:cs typeface="Calibri" pitchFamily="34" charset="-120"/>
              </a:rPr>
              <a:t>Team Name  |  Team ID</a:t>
            </a:r>
            <a:endParaRPr lang="en-US" sz="1200" dirty="0"/>
          </a:p>
        </p:txBody>
      </p:sp>
      <p:sp>
        <p:nvSpPr>
          <p:cNvPr id="4" name="Social Impact card"/>
          <p:cNvSpPr/>
          <p:nvPr/>
        </p:nvSpPr>
        <p:spPr>
          <a:xfrm>
            <a:off x="457200" y="1691640"/>
            <a:ext cx="5486400" cy="2103120"/>
          </a:xfrm>
          <a:prstGeom prst="roundRect">
            <a:avLst>
              <a:gd name="adj" fmla="val 5217"/>
            </a:avLst>
          </a:prstGeom>
          <a:solidFill>
            <a:srgbClr val="0B1A4A">
              <a:alpha val="75000"/>
            </a:srgbClr>
          </a:solidFill>
          <a:ln w="12700">
            <a:solidFill>
              <a:srgbClr val="1E5BFF"/>
            </a:solidFill>
            <a:prstDash val="solid"/>
          </a:ln>
        </p:spPr>
      </p:sp>
      <p:sp>
        <p:nvSpPr>
          <p:cNvPr id="5" name="Social Impact badge"/>
          <p:cNvSpPr/>
          <p:nvPr/>
        </p:nvSpPr>
        <p:spPr>
          <a:xfrm>
            <a:off x="731520" y="1965960"/>
            <a:ext cx="548640" cy="548640"/>
          </a:xfrm>
          <a:prstGeom prst="ellipse">
            <a:avLst/>
          </a:prstGeom>
          <a:solidFill>
            <a:schemeClr val="accent1"/>
          </a:solidFill>
          <a:ln w="12700">
            <a:solidFill>
              <a:srgbClr val="FFFFFF"/>
            </a:solidFill>
            <a:prstDash val="solid"/>
          </a:ln>
        </p:spPr>
      </p:sp>
      <p:sp>
        <p:nvSpPr>
          <p:cNvPr id="6" name="Text 4"/>
          <p:cNvSpPr txBox="1"/>
          <p:nvPr/>
        </p:nvSpPr>
        <p:spPr>
          <a:xfrm>
            <a:off x="731520" y="19659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Social Impact head"/>
          <p:cNvSpPr txBox="1"/>
          <p:nvPr/>
        </p:nvSpPr>
        <p:spPr>
          <a:xfrm>
            <a:off x="1554480" y="2057400"/>
            <a:ext cx="411480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SOCIAL IMPACT</a:t>
            </a:r>
            <a:endParaRPr lang="en-US" sz="1500" dirty="0"/>
          </a:p>
        </p:txBody>
      </p:sp>
      <p:sp>
        <p:nvSpPr>
          <p:cNvPr id="8" name="Social Impact body"/>
          <p:cNvSpPr txBox="1"/>
          <p:nvPr/>
        </p:nvSpPr>
        <p:spPr>
          <a:xfrm>
            <a:off x="1554480" y="2514600"/>
            <a:ext cx="4114800" cy="109728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Fewer confident wrong answers in high-stakes chatbots (health, legal, education, government). Abstention testing teaches systems to say “I don't know”.</a:t>
            </a:r>
            <a:endParaRPr lang="en-US" sz="1400" dirty="0"/>
          </a:p>
        </p:txBody>
      </p:sp>
      <p:sp>
        <p:nvSpPr>
          <p:cNvPr id="9" name="Environmental Impact card"/>
          <p:cNvSpPr/>
          <p:nvPr/>
        </p:nvSpPr>
        <p:spPr>
          <a:xfrm>
            <a:off x="6099048" y="1691640"/>
            <a:ext cx="5486400" cy="2103120"/>
          </a:xfrm>
          <a:prstGeom prst="roundRect">
            <a:avLst>
              <a:gd name="adj" fmla="val 5217"/>
            </a:avLst>
          </a:prstGeom>
          <a:solidFill>
            <a:srgbClr val="0B1A4A">
              <a:alpha val="75000"/>
            </a:srgbClr>
          </a:solidFill>
          <a:ln w="12700">
            <a:solidFill>
              <a:srgbClr val="1E5BFF"/>
            </a:solidFill>
            <a:prstDash val="solid"/>
          </a:ln>
        </p:spPr>
      </p:sp>
      <p:sp>
        <p:nvSpPr>
          <p:cNvPr id="10" name="Environmental Impact badge"/>
          <p:cNvSpPr/>
          <p:nvPr/>
        </p:nvSpPr>
        <p:spPr>
          <a:xfrm>
            <a:off x="6373368" y="1965960"/>
            <a:ext cx="548640" cy="548640"/>
          </a:xfrm>
          <a:prstGeom prst="ellipse">
            <a:avLst/>
          </a:prstGeom>
          <a:solidFill>
            <a:schemeClr val="accent1"/>
          </a:solidFill>
          <a:ln w="12700">
            <a:solidFill>
              <a:srgbClr val="FFFFFF"/>
            </a:solidFill>
            <a:prstDash val="solid"/>
          </a:ln>
        </p:spPr>
      </p:sp>
      <p:sp>
        <p:nvSpPr>
          <p:cNvPr id="11" name="Text 9"/>
          <p:cNvSpPr txBox="1"/>
          <p:nvPr/>
        </p:nvSpPr>
        <p:spPr>
          <a:xfrm>
            <a:off x="6373368" y="19659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Environmental Impact head"/>
          <p:cNvSpPr txBox="1"/>
          <p:nvPr/>
        </p:nvSpPr>
        <p:spPr>
          <a:xfrm>
            <a:off x="7196328" y="2057400"/>
            <a:ext cx="411480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ENVIRONMENTAL IMPACT</a:t>
            </a:r>
            <a:endParaRPr lang="en-US" sz="1500" dirty="0"/>
          </a:p>
        </p:txBody>
      </p:sp>
      <p:sp>
        <p:nvSpPr>
          <p:cNvPr id="13" name="Environmental Impact body"/>
          <p:cNvSpPr txBox="1"/>
          <p:nvPr/>
        </p:nvSpPr>
        <p:spPr>
          <a:xfrm>
            <a:off x="7196328" y="2514600"/>
            <a:ext cx="4114800" cy="109728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81% of checks run on small local models instead of large LLMs; caching removes repeated compute, so each evaluation uses less energy.</a:t>
            </a:r>
            <a:endParaRPr lang="en-US" sz="1400" dirty="0"/>
          </a:p>
        </p:txBody>
      </p:sp>
      <p:sp>
        <p:nvSpPr>
          <p:cNvPr id="14" name="Technical Impact card"/>
          <p:cNvSpPr/>
          <p:nvPr/>
        </p:nvSpPr>
        <p:spPr>
          <a:xfrm>
            <a:off x="457200" y="3977640"/>
            <a:ext cx="5486400" cy="2103120"/>
          </a:xfrm>
          <a:prstGeom prst="roundRect">
            <a:avLst>
              <a:gd name="adj" fmla="val 5217"/>
            </a:avLst>
          </a:prstGeom>
          <a:solidFill>
            <a:srgbClr val="0B1A4A">
              <a:alpha val="75000"/>
            </a:srgbClr>
          </a:solidFill>
          <a:ln w="12700">
            <a:solidFill>
              <a:srgbClr val="1E5BFF"/>
            </a:solidFill>
            <a:prstDash val="solid"/>
          </a:ln>
        </p:spPr>
      </p:sp>
      <p:sp>
        <p:nvSpPr>
          <p:cNvPr id="15" name="Technical Impact badge"/>
          <p:cNvSpPr/>
          <p:nvPr/>
        </p:nvSpPr>
        <p:spPr>
          <a:xfrm>
            <a:off x="731520" y="4251960"/>
            <a:ext cx="548640" cy="548640"/>
          </a:xfrm>
          <a:prstGeom prst="ellipse">
            <a:avLst/>
          </a:prstGeom>
          <a:solidFill>
            <a:schemeClr val="accent1"/>
          </a:solidFill>
          <a:ln w="12700">
            <a:solidFill>
              <a:srgbClr val="FFFFFF"/>
            </a:solidFill>
            <a:prstDash val="solid"/>
          </a:ln>
        </p:spPr>
      </p:sp>
      <p:sp>
        <p:nvSpPr>
          <p:cNvPr id="16" name="Text 14"/>
          <p:cNvSpPr txBox="1"/>
          <p:nvPr/>
        </p:nvSpPr>
        <p:spPr>
          <a:xfrm>
            <a:off x="731520" y="42519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chnical Impact head"/>
          <p:cNvSpPr txBox="1"/>
          <p:nvPr/>
        </p:nvSpPr>
        <p:spPr>
          <a:xfrm>
            <a:off x="1554480" y="4343400"/>
            <a:ext cx="411480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TECHNICAL IMPACT</a:t>
            </a:r>
            <a:endParaRPr lang="en-US" sz="1500" dirty="0"/>
          </a:p>
        </p:txBody>
      </p:sp>
      <p:sp>
        <p:nvSpPr>
          <p:cNvPr id="18" name="Technical Impact body"/>
          <p:cNvSpPr txBox="1"/>
          <p:nvPr/>
        </p:nvSpPr>
        <p:spPr>
          <a:xfrm>
            <a:off x="1554480" y="4800600"/>
            <a:ext cx="4114800" cy="109728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Turns RAG tuning into diagnosis. On our demo the prescribed fix repaired 10 of 12 failures and broke none (accuracy 0 → 1.0 on the failed set).</a:t>
            </a:r>
            <a:endParaRPr lang="en-US" sz="1400" dirty="0"/>
          </a:p>
        </p:txBody>
      </p:sp>
      <p:sp>
        <p:nvSpPr>
          <p:cNvPr id="19" name="Educational Impact card"/>
          <p:cNvSpPr/>
          <p:nvPr/>
        </p:nvSpPr>
        <p:spPr>
          <a:xfrm>
            <a:off x="6099048" y="3977640"/>
            <a:ext cx="5486400" cy="2103120"/>
          </a:xfrm>
          <a:prstGeom prst="roundRect">
            <a:avLst>
              <a:gd name="adj" fmla="val 5217"/>
            </a:avLst>
          </a:prstGeom>
          <a:solidFill>
            <a:srgbClr val="0B1A4A">
              <a:alpha val="75000"/>
            </a:srgbClr>
          </a:solidFill>
          <a:ln w="12700">
            <a:solidFill>
              <a:srgbClr val="1E5BFF"/>
            </a:solidFill>
            <a:prstDash val="solid"/>
          </a:ln>
        </p:spPr>
      </p:sp>
      <p:sp>
        <p:nvSpPr>
          <p:cNvPr id="20" name="Educational Impact badge"/>
          <p:cNvSpPr/>
          <p:nvPr/>
        </p:nvSpPr>
        <p:spPr>
          <a:xfrm>
            <a:off x="6373368" y="4251960"/>
            <a:ext cx="548640" cy="548640"/>
          </a:xfrm>
          <a:prstGeom prst="ellipse">
            <a:avLst/>
          </a:prstGeom>
          <a:solidFill>
            <a:schemeClr val="accent1"/>
          </a:solidFill>
          <a:ln w="12700">
            <a:solidFill>
              <a:srgbClr val="FFFFFF"/>
            </a:solidFill>
            <a:prstDash val="solid"/>
          </a:ln>
        </p:spPr>
      </p:sp>
      <p:sp>
        <p:nvSpPr>
          <p:cNvPr id="21" name="Text 19"/>
          <p:cNvSpPr txBox="1"/>
          <p:nvPr/>
        </p:nvSpPr>
        <p:spPr>
          <a:xfrm>
            <a:off x="6373368" y="42519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Educational Impact head"/>
          <p:cNvSpPr txBox="1"/>
          <p:nvPr/>
        </p:nvSpPr>
        <p:spPr>
          <a:xfrm>
            <a:off x="7196328" y="4343400"/>
            <a:ext cx="411480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EDUCATIONAL IMPACT</a:t>
            </a:r>
            <a:endParaRPr lang="en-US" sz="1500" dirty="0"/>
          </a:p>
        </p:txBody>
      </p:sp>
      <p:sp>
        <p:nvSpPr>
          <p:cNvPr id="23" name="Educational Impact body"/>
          <p:cNvSpPr txBox="1"/>
          <p:nvPr/>
        </p:nvSpPr>
        <p:spPr>
          <a:xfrm>
            <a:off x="7196328" y="4800600"/>
            <a:ext cx="4114800" cy="109728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Makes RAG failure modes visible and explainable: where retrieval or generation breaks, shown on real evidence. No black-box framework.</a:t>
            </a:r>
            <a:endParaRPr lang="en-US" sz="1400" dirty="0"/>
          </a:p>
        </p:txBody>
      </p:sp>
      <p:sp>
        <p:nvSpPr>
          <p:cNvPr id="25" name="Slide Number Placeholder 0"/>
          <p:cNvSpPr>
            <a:spLocks noGrp="1"/>
          </p:cNvSpPr>
          <p:nvPr>
            <p:ph type="sldNum" sz="quarter" idx="4294967295"/>
          </p:nvPr>
        </p:nvSpPr>
        <p:spPr>
          <a:xfrm>
            <a:off x="1115568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C4FF"/>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960120"/>
            <a:ext cx="11274552" cy="731520"/>
          </a:xfrm>
          <a:prstGeom prst="rect">
            <a:avLst/>
          </a:prstGeom>
          <a:noFill/>
          <a:ln/>
        </p:spPr>
        <p:txBody>
          <a:bodyPr wrap="square" lIns="0" tIns="0" rIns="0" bIns="0" rtlCol="0" anchor="ctr"/>
          <a:lstStyle/>
          <a:p>
            <a:pPr marL="0" indent="0">
              <a:buNone/>
            </a:pPr>
            <a:r>
              <a:rPr lang="en-US" sz="3600" b="1" kern="0" spc="200" dirty="0">
                <a:solidFill>
                  <a:srgbClr val="FFFFFF"/>
                </a:solidFill>
                <a:latin typeface="Arial" pitchFamily="34" charset="0"/>
                <a:ea typeface="Arial" pitchFamily="34" charset="-122"/>
                <a:cs typeface="Arial" pitchFamily="34" charset="-120"/>
              </a:rPr>
              <a:t>BUSINESS MODEL &amp; SUSTAINABILITY</a:t>
            </a:r>
            <a:endParaRPr lang="en-US" sz="3600" dirty="0"/>
          </a:p>
        </p:txBody>
      </p:sp>
      <p:sp>
        <p:nvSpPr>
          <p:cNvPr id="3" name="Team tag"/>
          <p:cNvSpPr txBox="1"/>
          <p:nvPr/>
        </p:nvSpPr>
        <p:spPr>
          <a:xfrm>
            <a:off x="8503920" y="1097280"/>
            <a:ext cx="3227832" cy="320040"/>
          </a:xfrm>
          <a:prstGeom prst="rect">
            <a:avLst/>
          </a:prstGeom>
          <a:noFill/>
          <a:ln/>
        </p:spPr>
        <p:txBody>
          <a:bodyPr wrap="square" lIns="0" tIns="0" rIns="0" bIns="0" rtlCol="0" anchor="ctr"/>
          <a:lstStyle/>
          <a:p>
            <a:pPr marL="0" indent="0" algn="r">
              <a:buNone/>
            </a:pPr>
            <a:r>
              <a:rPr lang="en-US" sz="1200" dirty="0">
                <a:solidFill>
                  <a:srgbClr val="9CC4FF"/>
                </a:solidFill>
                <a:latin typeface="Calibri" pitchFamily="34" charset="0"/>
                <a:ea typeface="Calibri" pitchFamily="34" charset="-122"/>
                <a:cs typeface="Calibri" pitchFamily="34" charset="-120"/>
              </a:rPr>
              <a:t>Team Name  |  Team ID</a:t>
            </a:r>
            <a:endParaRPr lang="en-US" sz="1200" dirty="0"/>
          </a:p>
        </p:txBody>
      </p:sp>
      <p:sp>
        <p:nvSpPr>
          <p:cNvPr id="4" name="Users card"/>
          <p:cNvSpPr/>
          <p:nvPr/>
        </p:nvSpPr>
        <p:spPr>
          <a:xfrm>
            <a:off x="457200" y="1691640"/>
            <a:ext cx="3657600" cy="4434840"/>
          </a:xfrm>
          <a:prstGeom prst="roundRect">
            <a:avLst>
              <a:gd name="adj" fmla="val 3000"/>
            </a:avLst>
          </a:prstGeom>
          <a:solidFill>
            <a:srgbClr val="0B1A4A">
              <a:alpha val="75000"/>
            </a:srgbClr>
          </a:solidFill>
          <a:ln w="12700">
            <a:solidFill>
              <a:srgbClr val="1E5BFF"/>
            </a:solidFill>
            <a:prstDash val="solid"/>
          </a:ln>
        </p:spPr>
      </p:sp>
      <p:sp>
        <p:nvSpPr>
          <p:cNvPr id="5" name="Users head"/>
          <p:cNvSpPr txBox="1"/>
          <p:nvPr/>
        </p:nvSpPr>
        <p:spPr>
          <a:xfrm>
            <a:off x="731520" y="1874520"/>
            <a:ext cx="31089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TARGET USERS</a:t>
            </a:r>
            <a:endParaRPr lang="en-US" sz="1500" dirty="0"/>
          </a:p>
        </p:txBody>
      </p:sp>
      <p:sp>
        <p:nvSpPr>
          <p:cNvPr id="6" name="Users body"/>
          <p:cNvSpPr txBox="1"/>
          <p:nvPr/>
        </p:nvSpPr>
        <p:spPr>
          <a:xfrm>
            <a:off x="731520" y="2377440"/>
            <a:ext cx="310896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AI / ML teams </a:t>
            </a:r>
            <a:r>
              <a:rPr lang="en-US" sz="1300" dirty="0">
                <a:solidFill>
                  <a:srgbClr val="FFFFFF"/>
                </a:solidFill>
                <a:latin typeface="Calibri" pitchFamily="34" charset="0"/>
                <a:ea typeface="Calibri" pitchFamily="34" charset="-122"/>
                <a:cs typeface="Calibri" pitchFamily="34" charset="-120"/>
              </a:rPr>
              <a:t>shipping RAG chatbots and copilots</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Enterprises </a:t>
            </a:r>
            <a:r>
              <a:rPr lang="en-US" sz="1300" dirty="0">
                <a:solidFill>
                  <a:srgbClr val="FFFFFF"/>
                </a:solidFill>
                <a:latin typeface="Calibri" pitchFamily="34" charset="0"/>
                <a:ea typeface="Calibri" pitchFamily="34" charset="-122"/>
                <a:cs typeface="Calibri" pitchFamily="34" charset="-120"/>
              </a:rPr>
              <a:t>with internal knowledge assistants (HR, support, legal)</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Universities &amp; researchers </a:t>
            </a:r>
            <a:r>
              <a:rPr lang="en-US" sz="1300" dirty="0">
                <a:solidFill>
                  <a:srgbClr val="FFFFFF"/>
                </a:solidFill>
                <a:latin typeface="Calibri" pitchFamily="34" charset="0"/>
                <a:ea typeface="Calibri" pitchFamily="34" charset="-122"/>
                <a:cs typeface="Calibri" pitchFamily="34" charset="-120"/>
              </a:rPr>
              <a:t>evaluating LLM systems</a:t>
            </a:r>
            <a:endParaRPr lang="en-US" sz="1400" dirty="0"/>
          </a:p>
        </p:txBody>
      </p:sp>
      <p:sp>
        <p:nvSpPr>
          <p:cNvPr id="7" name="Revenue card"/>
          <p:cNvSpPr/>
          <p:nvPr/>
        </p:nvSpPr>
        <p:spPr>
          <a:xfrm>
            <a:off x="4270248" y="1691640"/>
            <a:ext cx="3657600" cy="4434840"/>
          </a:xfrm>
          <a:prstGeom prst="roundRect">
            <a:avLst>
              <a:gd name="adj" fmla="val 3000"/>
            </a:avLst>
          </a:prstGeom>
          <a:solidFill>
            <a:srgbClr val="0B1A4A">
              <a:alpha val="75000"/>
            </a:srgbClr>
          </a:solidFill>
          <a:ln w="12700">
            <a:solidFill>
              <a:srgbClr val="1E5BFF"/>
            </a:solidFill>
            <a:prstDash val="solid"/>
          </a:ln>
        </p:spPr>
      </p:sp>
      <p:sp>
        <p:nvSpPr>
          <p:cNvPr id="8" name="Rev head"/>
          <p:cNvSpPr txBox="1"/>
          <p:nvPr/>
        </p:nvSpPr>
        <p:spPr>
          <a:xfrm>
            <a:off x="4544568" y="1874520"/>
            <a:ext cx="31089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REVENUE &amp; COST MODEL</a:t>
            </a:r>
            <a:endParaRPr lang="en-US" sz="1500" dirty="0"/>
          </a:p>
        </p:txBody>
      </p:sp>
      <p:sp>
        <p:nvSpPr>
          <p:cNvPr id="9" name="Rev body"/>
          <p:cNvSpPr txBox="1"/>
          <p:nvPr/>
        </p:nvSpPr>
        <p:spPr>
          <a:xfrm>
            <a:off x="4544568" y="2377440"/>
            <a:ext cx="310896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Open core: </a:t>
            </a:r>
            <a:r>
              <a:rPr lang="en-US" sz="1300" dirty="0">
                <a:solidFill>
                  <a:srgbClr val="FFFFFF"/>
                </a:solidFill>
                <a:latin typeface="Calibri" pitchFamily="34" charset="0"/>
                <a:ea typeface="Calibri" pitchFamily="34" charset="-122"/>
                <a:cs typeface="Calibri" pitchFamily="34" charset="-120"/>
              </a:rPr>
              <a:t>free self-hosted CLI + dashboard</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Pro SaaS: </a:t>
            </a:r>
            <a:r>
              <a:rPr lang="en-US" sz="1300" dirty="0">
                <a:solidFill>
                  <a:srgbClr val="FFFFFF"/>
                </a:solidFill>
                <a:latin typeface="Calibri" pitchFamily="34" charset="0"/>
                <a:ea typeface="Calibri" pitchFamily="34" charset="-122"/>
                <a:cs typeface="Calibri" pitchFamily="34" charset="-120"/>
              </a:rPr>
              <a:t>hosted runs, CI regression gates, team dashboards (per seat / per evaluation)</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Enterprise: </a:t>
            </a:r>
            <a:r>
              <a:rPr lang="en-US" sz="1300" dirty="0">
                <a:solidFill>
                  <a:srgbClr val="FFFFFF"/>
                </a:solidFill>
                <a:latin typeface="Calibri" pitchFamily="34" charset="0"/>
                <a:ea typeface="Calibri" pitchFamily="34" charset="-122"/>
                <a:cs typeface="Calibri" pitchFamily="34" charset="-120"/>
              </a:rPr>
              <a:t>on-prem, custom lenses, SSO</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Main cost is LLM calls, </a:t>
            </a:r>
            <a:r>
              <a:rPr lang="en-US" sz="1300" dirty="0">
                <a:solidFill>
                  <a:srgbClr val="FFFFFF"/>
                </a:solidFill>
                <a:latin typeface="Calibri" pitchFamily="34" charset="0"/>
                <a:ea typeface="Calibri" pitchFamily="34" charset="-122"/>
                <a:cs typeface="Calibri" pitchFamily="34" charset="-120"/>
              </a:rPr>
              <a:t>kept low by the cascade + cache</a:t>
            </a:r>
            <a:endParaRPr lang="en-US" sz="1400" dirty="0"/>
          </a:p>
        </p:txBody>
      </p:sp>
      <p:sp>
        <p:nvSpPr>
          <p:cNvPr id="10" name="Sustain card"/>
          <p:cNvSpPr/>
          <p:nvPr/>
        </p:nvSpPr>
        <p:spPr>
          <a:xfrm>
            <a:off x="8074152" y="1691640"/>
            <a:ext cx="3657600" cy="4434840"/>
          </a:xfrm>
          <a:prstGeom prst="roundRect">
            <a:avLst>
              <a:gd name="adj" fmla="val 3000"/>
            </a:avLst>
          </a:prstGeom>
          <a:solidFill>
            <a:srgbClr val="0B1A4A">
              <a:alpha val="75000"/>
            </a:srgbClr>
          </a:solidFill>
          <a:ln w="12700">
            <a:solidFill>
              <a:srgbClr val="1E5BFF"/>
            </a:solidFill>
            <a:prstDash val="solid"/>
          </a:ln>
        </p:spPr>
      </p:sp>
      <p:sp>
        <p:nvSpPr>
          <p:cNvPr id="11" name="Sus head"/>
          <p:cNvSpPr txBox="1"/>
          <p:nvPr/>
        </p:nvSpPr>
        <p:spPr>
          <a:xfrm>
            <a:off x="8348472" y="1874520"/>
            <a:ext cx="310896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SUSTAINABILITY</a:t>
            </a:r>
            <a:endParaRPr lang="en-US" sz="1500" dirty="0"/>
          </a:p>
        </p:txBody>
      </p:sp>
      <p:sp>
        <p:nvSpPr>
          <p:cNvPr id="12" name="Sus body"/>
          <p:cNvSpPr txBox="1"/>
          <p:nvPr/>
        </p:nvSpPr>
        <p:spPr>
          <a:xfrm>
            <a:off x="8348472" y="2377440"/>
            <a:ext cx="310896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CI / CD gate: </a:t>
            </a:r>
            <a:r>
              <a:rPr lang="en-US" sz="1300" dirty="0">
                <a:solidFill>
                  <a:srgbClr val="FFFFFF"/>
                </a:solidFill>
                <a:latin typeface="Calibri" pitchFamily="34" charset="0"/>
                <a:ea typeface="Calibri" pitchFamily="34" charset="-122"/>
                <a:cs typeface="Calibri" pitchFamily="34" charset="-120"/>
              </a:rPr>
              <a:t>every RAG change gets an autopsy before deploy</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Adapters </a:t>
            </a:r>
            <a:r>
              <a:rPr lang="en-US" sz="1300" dirty="0">
                <a:solidFill>
                  <a:srgbClr val="FFFFFF"/>
                </a:solidFill>
                <a:latin typeface="Calibri" pitchFamily="34" charset="0"/>
                <a:ea typeface="Calibri" pitchFamily="34" charset="-122"/>
                <a:cs typeface="Calibri" pitchFamily="34" charset="-120"/>
              </a:rPr>
              <a:t>for any RAG endpoint (question in → answer + contexts out)</a:t>
            </a:r>
            <a:endParaRPr lang="en-US" sz="14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Community lenses </a:t>
            </a:r>
            <a:r>
              <a:rPr lang="en-US" sz="1300" dirty="0">
                <a:solidFill>
                  <a:srgbClr val="FFFFFF"/>
                </a:solidFill>
                <a:latin typeface="Calibri" pitchFamily="34" charset="0"/>
                <a:ea typeface="Calibri" pitchFamily="34" charset="-122"/>
                <a:cs typeface="Calibri" pitchFamily="34" charset="-120"/>
              </a:rPr>
              <a:t>and consensus weights learned from user labels</a:t>
            </a:r>
            <a:endParaRPr lang="en-US" sz="1400" dirty="0"/>
          </a:p>
        </p:txBody>
      </p:sp>
      <p:sp>
        <p:nvSpPr>
          <p:cNvPr id="25" name="Slide Number Placeholder 0"/>
          <p:cNvSpPr>
            <a:spLocks noGrp="1"/>
          </p:cNvSpPr>
          <p:nvPr>
            <p:ph type="sldNum" sz="quarter" idx="4294967295"/>
          </p:nvPr>
        </p:nvSpPr>
        <p:spPr>
          <a:xfrm>
            <a:off x="1115568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C4FF"/>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960120"/>
            <a:ext cx="11274552" cy="731520"/>
          </a:xfrm>
          <a:prstGeom prst="rect">
            <a:avLst/>
          </a:prstGeom>
          <a:noFill/>
          <a:ln/>
        </p:spPr>
        <p:txBody>
          <a:bodyPr wrap="square" lIns="0" tIns="0" rIns="0" bIns="0" rtlCol="0" anchor="ctr"/>
          <a:lstStyle/>
          <a:p>
            <a:pPr marL="0" indent="0">
              <a:buNone/>
            </a:pPr>
            <a:r>
              <a:rPr lang="en-US" sz="3600" b="1" kern="0" spc="200" dirty="0">
                <a:solidFill>
                  <a:srgbClr val="FFFFFF"/>
                </a:solidFill>
                <a:latin typeface="Arial" pitchFamily="34" charset="0"/>
                <a:ea typeface="Arial" pitchFamily="34" charset="-122"/>
                <a:cs typeface="Arial" pitchFamily="34" charset="-120"/>
              </a:rPr>
              <a:t>RESEARCH AND REFERENCES</a:t>
            </a:r>
            <a:endParaRPr lang="en-US" sz="3600" dirty="0"/>
          </a:p>
        </p:txBody>
      </p:sp>
      <p:sp>
        <p:nvSpPr>
          <p:cNvPr id="3" name="Team tag"/>
          <p:cNvSpPr txBox="1"/>
          <p:nvPr/>
        </p:nvSpPr>
        <p:spPr>
          <a:xfrm>
            <a:off x="8503920" y="1097280"/>
            <a:ext cx="3227832" cy="320040"/>
          </a:xfrm>
          <a:prstGeom prst="rect">
            <a:avLst/>
          </a:prstGeom>
          <a:noFill/>
          <a:ln/>
        </p:spPr>
        <p:txBody>
          <a:bodyPr wrap="square" lIns="0" tIns="0" rIns="0" bIns="0" rtlCol="0" anchor="ctr"/>
          <a:lstStyle/>
          <a:p>
            <a:pPr marL="0" indent="0" algn="r">
              <a:buNone/>
            </a:pPr>
            <a:r>
              <a:rPr lang="en-US" sz="1200" dirty="0">
                <a:solidFill>
                  <a:srgbClr val="9CC4FF"/>
                </a:solidFill>
                <a:latin typeface="Calibri" pitchFamily="34" charset="0"/>
                <a:ea typeface="Calibri" pitchFamily="34" charset="-122"/>
                <a:cs typeface="Calibri" pitchFamily="34" charset="-120"/>
              </a:rPr>
              <a:t>Team Name  |  Team ID</a:t>
            </a:r>
            <a:endParaRPr lang="en-US" sz="1200" dirty="0"/>
          </a:p>
        </p:txBody>
      </p:sp>
      <p:sp>
        <p:nvSpPr>
          <p:cNvPr id="4" name="References card"/>
          <p:cNvSpPr/>
          <p:nvPr/>
        </p:nvSpPr>
        <p:spPr>
          <a:xfrm>
            <a:off x="457200" y="1691640"/>
            <a:ext cx="11274552" cy="4434840"/>
          </a:xfrm>
          <a:prstGeom prst="roundRect">
            <a:avLst>
              <a:gd name="adj" fmla="val 2474"/>
            </a:avLst>
          </a:prstGeom>
          <a:solidFill>
            <a:srgbClr val="0B1A4A">
              <a:alpha val="75000"/>
            </a:srgbClr>
          </a:solidFill>
          <a:ln w="12700">
            <a:solidFill>
              <a:srgbClr val="1E5BFF"/>
            </a:solidFill>
            <a:prstDash val="solid"/>
          </a:ln>
        </p:spPr>
      </p:sp>
      <p:sp>
        <p:nvSpPr>
          <p:cNvPr id="5" name="Ref head"/>
          <p:cNvSpPr txBox="1"/>
          <p:nvPr/>
        </p:nvSpPr>
        <p:spPr>
          <a:xfrm>
            <a:off x="731520" y="1874520"/>
            <a:ext cx="10515600" cy="320040"/>
          </a:xfrm>
          <a:prstGeom prst="rect">
            <a:avLst/>
          </a:prstGeom>
          <a:noFill/>
          <a:ln/>
        </p:spPr>
        <p:txBody>
          <a:bodyPr wrap="square" lIns="0" tIns="0" rIns="0" bIns="0" rtlCol="0" anchor="ctr"/>
          <a:lstStyle/>
          <a:p>
            <a:pPr marL="0" indent="0">
              <a:buNone/>
            </a:pPr>
            <a:r>
              <a:rPr lang="en-US" sz="1500" b="1" kern="0" spc="200" dirty="0">
                <a:solidFill>
                  <a:srgbClr val="4DA3FF"/>
                </a:solidFill>
                <a:latin typeface="Arial" pitchFamily="34" charset="0"/>
                <a:ea typeface="Arial" pitchFamily="34" charset="-122"/>
                <a:cs typeface="Arial" pitchFamily="34" charset="-120"/>
              </a:rPr>
              <a:t>KEY TECH &amp; RESEARCH SOURCES</a:t>
            </a:r>
            <a:endParaRPr lang="en-US" sz="1500" dirty="0"/>
          </a:p>
        </p:txBody>
      </p:sp>
      <p:sp>
        <p:nvSpPr>
          <p:cNvPr id="6" name="Ref body"/>
          <p:cNvSpPr txBox="1"/>
          <p:nvPr/>
        </p:nvSpPr>
        <p:spPr>
          <a:xfrm>
            <a:off x="731520" y="2377440"/>
            <a:ext cx="1069848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Lewis et al., 2020: </a:t>
            </a:r>
            <a:r>
              <a:rPr lang="en-US" sz="1300" dirty="0">
                <a:solidFill>
                  <a:srgbClr val="FFFFFF"/>
                </a:solidFill>
                <a:latin typeface="Calibri" pitchFamily="34" charset="0"/>
                <a:ea typeface="Calibri" pitchFamily="34" charset="-122"/>
                <a:cs typeface="Calibri" pitchFamily="34" charset="-120"/>
              </a:rPr>
              <a:t>Retrieval-Augmented Generation for Knowledge-Intensive NLP Tasks (NeurIPS)</a:t>
            </a:r>
            <a:endParaRPr lang="en-US" sz="16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Es et al., 2023: </a:t>
            </a:r>
            <a:r>
              <a:rPr lang="en-US" sz="1300" dirty="0">
                <a:solidFill>
                  <a:srgbClr val="FFFFFF"/>
                </a:solidFill>
                <a:latin typeface="Calibri" pitchFamily="34" charset="0"/>
                <a:ea typeface="Calibri" pitchFamily="34" charset="-122"/>
                <a:cs typeface="Calibri" pitchFamily="34" charset="-120"/>
              </a:rPr>
              <a:t>RAGAS: Automated Evaluation of Retrieval Augmented Generation</a:t>
            </a:r>
            <a:endParaRPr lang="en-US" sz="16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Tang, Laban &amp; Durrett, 2024: </a:t>
            </a:r>
            <a:r>
              <a:rPr lang="en-US" sz="1300" dirty="0">
                <a:solidFill>
                  <a:srgbClr val="FFFFFF"/>
                </a:solidFill>
                <a:latin typeface="Calibri" pitchFamily="34" charset="0"/>
                <a:ea typeface="Calibri" pitchFamily="34" charset="-122"/>
                <a:cs typeface="Calibri" pitchFamily="34" charset="-120"/>
              </a:rPr>
              <a:t>MiniCheck: Efficient Fact-Checking of LLMs on Grounding Documents (EMNLP)</a:t>
            </a:r>
            <a:endParaRPr lang="en-US" sz="16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Kovács &amp; Recski, 2025: </a:t>
            </a:r>
            <a:r>
              <a:rPr lang="en-US" sz="1300" dirty="0">
                <a:solidFill>
                  <a:srgbClr val="FFFFFF"/>
                </a:solidFill>
                <a:latin typeface="Calibri" pitchFamily="34" charset="0"/>
                <a:ea typeface="Calibri" pitchFamily="34" charset="-122"/>
                <a:cs typeface="Calibri" pitchFamily="34" charset="-120"/>
              </a:rPr>
              <a:t>LettuceDetect: A Hallucination Detection Framework for RAG Applications</a:t>
            </a:r>
            <a:endParaRPr lang="en-US" sz="16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Vectara: </a:t>
            </a:r>
            <a:r>
              <a:rPr lang="en-US" sz="1300" dirty="0">
                <a:solidFill>
                  <a:srgbClr val="FFFFFF"/>
                </a:solidFill>
                <a:latin typeface="Calibri" pitchFamily="34" charset="0"/>
                <a:ea typeface="Calibri" pitchFamily="34" charset="-122"/>
                <a:cs typeface="Calibri" pitchFamily="34" charset="-120"/>
              </a:rPr>
              <a:t>HHEM-2.1-Open hallucination evaluation model (Hugging Face)</a:t>
            </a:r>
            <a:endParaRPr lang="en-US" sz="16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Xiao et al., 2023: </a:t>
            </a:r>
            <a:r>
              <a:rPr lang="en-US" sz="1300" dirty="0">
                <a:solidFill>
                  <a:srgbClr val="FFFFFF"/>
                </a:solidFill>
                <a:latin typeface="Calibri" pitchFamily="34" charset="0"/>
                <a:ea typeface="Calibri" pitchFamily="34" charset="-122"/>
                <a:cs typeface="Calibri" pitchFamily="34" charset="-120"/>
              </a:rPr>
              <a:t>C-Pack: BGE embedding and reranker models (BAAI)</a:t>
            </a:r>
            <a:endParaRPr lang="en-US" sz="16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Cormack, Clarke &amp; Büttcher, 2009: </a:t>
            </a:r>
            <a:r>
              <a:rPr lang="en-US" sz="1300" dirty="0">
                <a:solidFill>
                  <a:srgbClr val="FFFFFF"/>
                </a:solidFill>
                <a:latin typeface="Calibri" pitchFamily="34" charset="0"/>
                <a:ea typeface="Calibri" pitchFamily="34" charset="-122"/>
                <a:cs typeface="Calibri" pitchFamily="34" charset="-120"/>
              </a:rPr>
              <a:t>Reciprocal Rank Fusion (SIGIR); Robertson &amp; Zaragoza, 2009: BM25</a:t>
            </a:r>
            <a:endParaRPr lang="en-US" sz="16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Efron &amp; Tibshirani, 1993: </a:t>
            </a:r>
            <a:r>
              <a:rPr lang="en-US" sz="1300" dirty="0">
                <a:solidFill>
                  <a:srgbClr val="FFFFFF"/>
                </a:solidFill>
                <a:latin typeface="Calibri" pitchFamily="34" charset="0"/>
                <a:ea typeface="Calibri" pitchFamily="34" charset="-122"/>
                <a:cs typeface="Calibri" pitchFamily="34" charset="-120"/>
              </a:rPr>
              <a:t>An Introduction to the Bootstrap (confidence intervals)</a:t>
            </a:r>
            <a:endParaRPr lang="en-US" sz="1600" dirty="0"/>
          </a:p>
          <a:p>
            <a:pPr marL="342900" indent="-342900">
              <a:spcAft>
                <a:spcPts val="600"/>
              </a:spcAft>
              <a:buSzPct val="100000"/>
              <a:buChar char="•"/>
            </a:pPr>
            <a:r>
              <a:rPr lang="en-US" sz="1300" dirty="0" b="1">
                <a:solidFill>
                  <a:srgbClr val="FFFFFF"/>
                </a:solidFill>
                <a:latin typeface="Calibri" pitchFamily="34" charset="0"/>
                <a:ea typeface="Calibri" pitchFamily="34" charset="-122"/>
                <a:cs typeface="Calibri" pitchFamily="34" charset="-120"/>
              </a:rPr>
              <a:t>Tools: </a:t>
            </a:r>
            <a:r>
              <a:rPr lang="en-US" sz="1300" dirty="0">
                <a:solidFill>
                  <a:srgbClr val="FFFFFF"/>
                </a:solidFill>
                <a:latin typeface="Calibri" pitchFamily="34" charset="0"/>
                <a:ea typeface="Calibri" pitchFamily="34" charset="-122"/>
                <a:cs typeface="Calibri" pitchFamily="34" charset="-120"/>
              </a:rPr>
              <a:t>FastAPI, ChromaDB, sentence-transformers, rank_bm25, React, Tailwind CSS, Google Gemini API, Groq API</a:t>
            </a:r>
            <a:endParaRPr lang="en-US" sz="1600" dirty="0"/>
          </a:p>
        </p:txBody>
      </p:sp>
      <p:sp>
        <p:nvSpPr>
          <p:cNvPr id="25" name="Slide Number Placeholder 0"/>
          <p:cNvSpPr>
            <a:spLocks noGrp="1"/>
          </p:cNvSpPr>
          <p:nvPr>
            <p:ph type="sldNum" sz="quarter" idx="4294967295"/>
          </p:nvPr>
        </p:nvSpPr>
        <p:spPr>
          <a:xfrm>
            <a:off x="11155680" y="6428232"/>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C4FF"/>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YPNEXIS 26 logo"/>
          <p:cNvPicPr>
            <a:picLocks noChangeAspect="1"/>
          </p:cNvPicPr>
          <p:nvPr/>
        </p:nvPicPr>
        <p:blipFill>
          <a:blip r:embed="rId3"/>
          <a:stretch>
            <a:fillRect/>
          </a:stretch>
        </p:blipFill>
        <p:spPr>
          <a:xfrm>
            <a:off x="548640" y="1828800"/>
            <a:ext cx="4754880" cy="2163776"/>
          </a:xfrm>
          <a:prstGeom prst="rect">
            <a:avLst/>
          </a:prstGeom>
        </p:spPr>
      </p:pic>
      <p:sp>
        <p:nvSpPr>
          <p:cNvPr id="3" name="Text 0"/>
          <p:cNvSpPr txBox="1"/>
          <p:nvPr/>
        </p:nvSpPr>
        <p:spPr>
          <a:xfrm>
            <a:off x="548640" y="4297680"/>
            <a:ext cx="7315200" cy="822960"/>
          </a:xfrm>
          <a:prstGeom prst="rect">
            <a:avLst/>
          </a:prstGeom>
          <a:noFill/>
          <a:ln/>
        </p:spPr>
        <p:txBody>
          <a:bodyPr wrap="square" lIns="0" tIns="0" rIns="0" bIns="0" rtlCol="0" anchor="ctr"/>
          <a:lstStyle/>
          <a:p>
            <a:pPr marL="0" indent="0">
              <a:buNone/>
            </a:pPr>
            <a:r>
              <a:rPr lang="en-US" sz="4400" b="1" kern="0" spc="400" dirty="0">
                <a:solidFill>
                  <a:srgbClr val="FFFFFF"/>
                </a:solidFill>
                <a:latin typeface="Arial" pitchFamily="34" charset="0"/>
                <a:ea typeface="Arial" pitchFamily="34" charset="-122"/>
                <a:cs typeface="Arial" pitchFamily="34" charset="-120"/>
              </a:rPr>
              <a:t>THANK YOU</a:t>
            </a:r>
            <a:endParaRPr lang="en-US" sz="4400" dirty="0"/>
          </a:p>
        </p:txBody>
      </p:sp>
      <p:sp>
        <p:nvSpPr>
          <p:cNvPr id="4" name="Text 1"/>
          <p:cNvSpPr txBox="1"/>
          <p:nvPr/>
        </p:nvSpPr>
        <p:spPr>
          <a:xfrm>
            <a:off x="548640" y="5120640"/>
            <a:ext cx="7315200" cy="365760"/>
          </a:xfrm>
          <a:prstGeom prst="rect">
            <a:avLst/>
          </a:prstGeom>
          <a:noFill/>
          <a:ln/>
        </p:spPr>
        <p:txBody>
          <a:bodyPr wrap="square" lIns="0" tIns="0" rIns="0" bIns="0" rtlCol="0" anchor="ctr"/>
          <a:lstStyle/>
          <a:p>
            <a:pPr marL="0" indent="0">
              <a:buNone/>
            </a:pPr>
            <a:r>
              <a:rPr lang="en-US" sz="1600" dirty="0">
                <a:solidFill>
                  <a:srgbClr val="9CC4FF"/>
                </a:solidFill>
                <a:latin typeface="Calibri" pitchFamily="34" charset="0"/>
                <a:ea typeface="Calibri" pitchFamily="34" charset="-122"/>
                <a:cs typeface="Calibri" pitchFamily="34" charset="-120"/>
              </a:rPr>
              <a:t>Team Name  |  Team ID  |  krishjariwala678@gmail.com</a:t>
            </a:r>
            <a:endParaRPr lang="en-US" sz="1600" dirty="0"/>
          </a:p>
        </p:txBody>
      </p:sp>
      <p:sp>
        <p:nvSpPr>
          <p:cNvPr id="5" name="Text 2"/>
          <p:cNvSpPr txBox="1"/>
          <p:nvPr/>
        </p:nvSpPr>
        <p:spPr>
          <a:xfrm>
            <a:off x="548640" y="6035040"/>
            <a:ext cx="7315200" cy="320040"/>
          </a:xfrm>
          <a:prstGeom prst="rect">
            <a:avLst/>
          </a:prstGeom>
          <a:noFill/>
          <a:ln/>
        </p:spPr>
        <p:txBody>
          <a:bodyPr wrap="square" lIns="0" tIns="0" rIns="0" bIns="0" rtlCol="0" anchor="ctr"/>
          <a:lstStyle/>
          <a:p>
            <a:pPr marL="0" indent="0">
              <a:buNone/>
            </a:pPr>
            <a:r>
              <a:rPr lang="en-US" sz="1300" b="1" kern="0" spc="500" dirty="0">
                <a:solidFill>
                  <a:srgbClr val="4DA3FF"/>
                </a:solidFill>
                <a:latin typeface="Arial" pitchFamily="34" charset="0"/>
                <a:ea typeface="Arial" pitchFamily="34" charset="-122"/>
                <a:cs typeface="Arial" pitchFamily="34" charset="-120"/>
              </a:rPr>
              <a:t>CREATE / AN / IMPACT</a:t>
            </a:r>
            <a:endParaRPr lang="en-US" sz="1300" dirty="0"/>
          </a:p>
        </p:txBody>
      </p:sp>
      <p:sp>
        <p:nvSpPr>
          <p:cNvPr id="6" name="Links"/>
          <p:cNvSpPr txBox="1"/>
          <p:nvPr/>
        </p:nvSpPr>
        <p:spPr>
          <a:xfrm>
            <a:off x="548640" y="5532120"/>
            <a:ext cx="7315200" cy="320040"/>
          </a:xfrm>
          <a:prstGeom prst="rect">
            <a:avLst/>
          </a:prstGeom>
          <a:noFill/>
        </p:spPr>
        <p:txBody>
          <a:bodyPr wrap="square" lIns="0" rIns="0" tIns="0" bIns="0" anchor="t">
            <a:spAutoFit/>
          </a:bodyPr>
          <a:lstStyle/>
          <a:p>
            <a:pPr algn="l"/>
            <a:r>
              <a:rPr sz="1300" b="1" i="0">
                <a:solidFill>
                  <a:srgbClr val="4DA3FF"/>
                </a:solidFill>
                <a:latin typeface="Calibri"/>
              </a:rPr>
              <a:t>Live demo  </a:t>
            </a:r>
            <a:r>
              <a:rPr sz="1300" b="0" i="0">
                <a:solidFill>
                  <a:srgbClr val="FFFFFF"/>
                </a:solidFill>
                <a:latin typeface="Calibri"/>
                <a:hlinkClick r:id="rId4"/>
              </a:rPr>
              <a:t>rag-autopsy.vercel.app</a:t>
            </a:r>
            <a:r>
              <a:rPr sz="1300" b="1" i="0">
                <a:solidFill>
                  <a:srgbClr val="4DA3FF"/>
                </a:solidFill>
                <a:latin typeface="Calibri"/>
              </a:rPr>
              <a:t>      Code  </a:t>
            </a:r>
            <a:r>
              <a:rPr sz="1300" b="0" i="0">
                <a:solidFill>
                  <a:srgbClr val="FFFFFF"/>
                </a:solidFill>
                <a:latin typeface="Calibri"/>
                <a:hlinkClick r:id="rId5"/>
              </a:rPr>
              <a:t>github.com/GargeeTripathi/rag-autopsy</a:t>
            </a:r>
          </a:p>
        </p:txBody>
      </p:sp>
      <p:sp>
        <p:nvSpPr>
          <p:cNvPr id="7" name="QR card"/>
          <p:cNvSpPr/>
          <p:nvPr/>
        </p:nvSpPr>
        <p:spPr>
          <a:xfrm>
            <a:off x="8732520" y="1600200"/>
            <a:ext cx="2926080" cy="3794760"/>
          </a:xfrm>
          <a:prstGeom prst="roundRect">
            <a:avLst>
              <a:gd name="adj" fmla="val 8000"/>
            </a:avLst>
          </a:prstGeom>
          <a:solidFill>
            <a:srgbClr val="0B1A4A">
              <a:alpha val="80000"/>
            </a:srgbClr>
          </a:solidFill>
          <a:ln w="12700">
            <a:solidFill>
              <a:srgbClr val="1E5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Live demo QR code" descr="qr_demo.png">
            <a:hlinkClick r:id="rId4"/>
          </p:cNvPr>
          <p:cNvPicPr>
            <a:picLocks noChangeAspect="1"/>
          </p:cNvPicPr>
          <p:nvPr/>
        </p:nvPicPr>
        <p:blipFill>
          <a:blip r:embed="rId6"/>
          <a:stretch>
            <a:fillRect/>
          </a:stretch>
        </p:blipFill>
        <p:spPr>
          <a:xfrm>
            <a:off x="9098280" y="1874519"/>
            <a:ext cx="2194560" cy="2194560"/>
          </a:xfrm>
          <a:prstGeom prst="rect">
            <a:avLst/>
          </a:prstGeom>
        </p:spPr>
      </p:pic>
      <p:sp>
        <p:nvSpPr>
          <p:cNvPr id="9" name="TextBox 8"/>
          <p:cNvSpPr txBox="1"/>
          <p:nvPr/>
        </p:nvSpPr>
        <p:spPr>
          <a:xfrm>
            <a:off x="8869680" y="4206240"/>
            <a:ext cx="2651760" cy="320040"/>
          </a:xfrm>
          <a:prstGeom prst="rect">
            <a:avLst/>
          </a:prstGeom>
          <a:noFill/>
        </p:spPr>
        <p:txBody>
          <a:bodyPr wrap="square" lIns="0" rIns="0" tIns="0" bIns="0" anchor="t">
            <a:spAutoFit/>
          </a:bodyPr>
          <a:lstStyle/>
          <a:p>
            <a:pPr algn="ctr"/>
            <a:r>
              <a:rPr sz="1100" b="1" i="0">
                <a:solidFill>
                  <a:srgbClr val="4DA3FF"/>
                </a:solidFill>
                <a:latin typeface="Arial"/>
              </a:rPr>
              <a:t>SCAN FOR THE LIVE DEMO</a:t>
            </a:r>
          </a:p>
        </p:txBody>
      </p:sp>
      <p:sp>
        <p:nvSpPr>
          <p:cNvPr id="10" name="TextBox 9"/>
          <p:cNvSpPr txBox="1"/>
          <p:nvPr/>
        </p:nvSpPr>
        <p:spPr>
          <a:xfrm>
            <a:off x="8869680" y="4553712"/>
            <a:ext cx="2651760" cy="320040"/>
          </a:xfrm>
          <a:prstGeom prst="rect">
            <a:avLst/>
          </a:prstGeom>
          <a:noFill/>
        </p:spPr>
        <p:txBody>
          <a:bodyPr wrap="square" lIns="0" rIns="0" tIns="0" bIns="0" anchor="t">
            <a:spAutoFit/>
          </a:bodyPr>
          <a:lstStyle/>
          <a:p>
            <a:pPr algn="ctr"/>
            <a:r>
              <a:rPr sz="1300" b="0" i="0">
                <a:solidFill>
                  <a:srgbClr val="FFFFFF"/>
                </a:solidFill>
                <a:latin typeface="Calibri"/>
                <a:hlinkClick r:id="rId4"/>
              </a:rPr>
              <a:t>rag-autopsy.vercel.app</a:t>
            </a:r>
          </a:p>
        </p:txBody>
      </p:sp>
      <p:sp>
        <p:nvSpPr>
          <p:cNvPr id="11" name="TextBox 10"/>
          <p:cNvSpPr txBox="1"/>
          <p:nvPr/>
        </p:nvSpPr>
        <p:spPr>
          <a:xfrm>
            <a:off x="8869680" y="4873752"/>
            <a:ext cx="2651760" cy="365760"/>
          </a:xfrm>
          <a:prstGeom prst="rect">
            <a:avLst/>
          </a:prstGeom>
          <a:noFill/>
        </p:spPr>
        <p:txBody>
          <a:bodyPr wrap="square" lIns="0" rIns="0" tIns="0" bIns="0" anchor="t">
            <a:spAutoFit/>
          </a:bodyPr>
          <a:lstStyle/>
          <a:p>
            <a:pPr algn="ctr"/>
            <a:r>
              <a:rPr sz="1100" b="0" i="0">
                <a:solidFill>
                  <a:srgbClr val="9CC4FF"/>
                </a:solidFill>
                <a:latin typeface="Calibri"/>
              </a:rPr>
              <a:t>Explore the demo or upload your own docs</a:t>
            </a:r>
          </a:p>
        </p:txBody>
      </p:sp>
      <p:sp>
        <p:nvSpPr>
          <p:cNvPr id="12" name="Repo QR card"/>
          <p:cNvSpPr/>
          <p:nvPr/>
        </p:nvSpPr>
        <p:spPr>
          <a:xfrm>
            <a:off x="5623560" y="1600200"/>
            <a:ext cx="2926080" cy="3794760"/>
          </a:xfrm>
          <a:prstGeom prst="roundRect">
            <a:avLst>
              <a:gd name="adj" fmla="val 8000"/>
            </a:avLst>
          </a:prstGeom>
          <a:solidFill>
            <a:srgbClr val="0B1A4A">
              <a:alpha val="80000"/>
            </a:srgbClr>
          </a:solidFill>
          <a:ln w="12700">
            <a:solidFill>
              <a:srgbClr val="1E5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GitHub repo QR code" descr="qr_repo.png">
            <a:hlinkClick r:id="rId5"/>
          </p:cNvPr>
          <p:cNvPicPr>
            <a:picLocks noChangeAspect="1"/>
          </p:cNvPicPr>
          <p:nvPr/>
        </p:nvPicPr>
        <p:blipFill>
          <a:blip r:embed="rId7"/>
          <a:stretch>
            <a:fillRect/>
          </a:stretch>
        </p:blipFill>
        <p:spPr>
          <a:xfrm>
            <a:off x="5989320" y="1874519"/>
            <a:ext cx="2194560" cy="2194560"/>
          </a:xfrm>
          <a:prstGeom prst="rect">
            <a:avLst/>
          </a:prstGeom>
        </p:spPr>
      </p:pic>
      <p:sp>
        <p:nvSpPr>
          <p:cNvPr id="14" name="TextBox 13"/>
          <p:cNvSpPr txBox="1"/>
          <p:nvPr/>
        </p:nvSpPr>
        <p:spPr>
          <a:xfrm>
            <a:off x="5760720" y="4206240"/>
            <a:ext cx="2651760" cy="320040"/>
          </a:xfrm>
          <a:prstGeom prst="rect">
            <a:avLst/>
          </a:prstGeom>
          <a:noFill/>
        </p:spPr>
        <p:txBody>
          <a:bodyPr wrap="square" lIns="0" rIns="0" tIns="0" bIns="0" anchor="t">
            <a:spAutoFit/>
          </a:bodyPr>
          <a:lstStyle/>
          <a:p>
            <a:pPr algn="ctr"/>
            <a:r>
              <a:rPr sz="1100" b="1" i="0">
                <a:solidFill>
                  <a:srgbClr val="4DA3FF"/>
                </a:solidFill>
                <a:latin typeface="Arial"/>
              </a:rPr>
              <a:t>SCAN FOR THE SOURCE CODE</a:t>
            </a:r>
          </a:p>
        </p:txBody>
      </p:sp>
      <p:sp>
        <p:nvSpPr>
          <p:cNvPr id="15" name="TextBox 14"/>
          <p:cNvSpPr txBox="1"/>
          <p:nvPr/>
        </p:nvSpPr>
        <p:spPr>
          <a:xfrm>
            <a:off x="5760720" y="4553712"/>
            <a:ext cx="2651760" cy="320040"/>
          </a:xfrm>
          <a:prstGeom prst="rect">
            <a:avLst/>
          </a:prstGeom>
          <a:noFill/>
        </p:spPr>
        <p:txBody>
          <a:bodyPr wrap="square" lIns="0" rIns="0" tIns="0" bIns="0" anchor="t">
            <a:spAutoFit/>
          </a:bodyPr>
          <a:lstStyle/>
          <a:p>
            <a:pPr algn="ctr"/>
            <a:r>
              <a:rPr sz="1300" b="0" i="0">
                <a:solidFill>
                  <a:srgbClr val="FFFFFF"/>
                </a:solidFill>
                <a:latin typeface="Calibri"/>
                <a:hlinkClick r:id="rId5"/>
              </a:rPr>
              <a:t>GitHub repo</a:t>
            </a:r>
          </a:p>
        </p:txBody>
      </p:sp>
      <p:sp>
        <p:nvSpPr>
          <p:cNvPr id="16" name="TextBox 15"/>
          <p:cNvSpPr txBox="1"/>
          <p:nvPr/>
        </p:nvSpPr>
        <p:spPr>
          <a:xfrm>
            <a:off x="5760720" y="4873752"/>
            <a:ext cx="2651760" cy="365760"/>
          </a:xfrm>
          <a:prstGeom prst="rect">
            <a:avLst/>
          </a:prstGeom>
          <a:noFill/>
        </p:spPr>
        <p:txBody>
          <a:bodyPr wrap="square" lIns="0" rIns="0" tIns="0" bIns="0" anchor="t">
            <a:spAutoFit/>
          </a:bodyPr>
          <a:lstStyle/>
          <a:p>
            <a:pPr algn="ctr"/>
            <a:r>
              <a:rPr sz="1100" b="0" i="0">
                <a:solidFill>
                  <a:srgbClr val="9CC4FF"/>
                </a:solidFill>
                <a:latin typeface="Calibri"/>
              </a:rPr>
              <a:t>README, architecture diagram and setup</a:t>
            </a:r>
          </a:p>
        </p:txBody>
      </p:sp>
    </p:spTree>
  </p:cSld>
  <p:clrMapOvr>
    <a:masterClrMapping/>
  </p:clrMapOvr>
</p:sld>
</file>

<file path=ppt/theme/theme1.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442</Words>
  <Application>Microsoft Office PowerPoint</Application>
  <PresentationFormat>Widescreen</PresentationFormat>
  <Paragraphs>126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Hypnexis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HYPNEXIS 26 - Official Idea Presentation Template</dc:title>
  <dc:subject>PptxGenJS Presentation</dc:subject>
  <dc:creator>PptxGenJS</dc:creator>
  <cp:lastModifiedBy>G.GIGI 2005</cp:lastModifiedBy>
  <cp:revision>1</cp:revision>
  <dcterms:created xsi:type="dcterms:W3CDTF">2026-10-24T10:35:26Z</dcterms:created>
  <dcterms:modified xsi:type="dcterms:W3CDTF">2026-10-24T16:49:17Z</dcterms:modified>
</cp:coreProperties>
</file>