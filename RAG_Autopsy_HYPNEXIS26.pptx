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ARENA, Automated Retrieval &amp; Evaluation Nexus Architecture: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upload their own documents right on the live site, or try the demo corpus. The upload step confirms each file and shows live progress while questions are written. 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deployed: the dashboard runs on Vercel and visitors can upload their own documents, which go through a secure tunnel to our backend, with limits that protect the API quota. 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live demo is at rag-autopsy.vercel.app (scan the QR code), and the code, with a full README and architecture diagram, is on GitHub at github.com/GargeeTripathi/rag-autopsy (second QR code).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hyperlink" Target="https://rag-autopsy.vercel.app" TargetMode="Externa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hyperlink" Target="https://rag-autopsy.vercel.app" TargetMode="External"/><Relationship Id="rId5" Type="http://schemas.openxmlformats.org/officeDocument/2006/relationships/hyperlink" Target="https://github.com/GargeeTripathi/rag-autopsy" TargetMode="External"/><Relationship Id="rId6" Type="http://schemas.openxmlformats.org/officeDocument/2006/relationships/image" Target="../media/image7.png"/><Relationship Id="rId7"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ARENA</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Upload: </a:t>
            </a:r>
            <a:r>
              <a:rPr lang="en-US" sz="1250" dirty="0">
                <a:solidFill>
                  <a:srgbClr val="FFFFFF"/>
                </a:solidFill>
                <a:latin typeface="Calibri" pitchFamily="34" charset="0"/>
                <a:ea typeface="Calibri" pitchFamily="34" charset="-122"/>
                <a:cs typeface="Calibri" pitchFamily="34" charset="-120"/>
              </a:rPr>
              <a:t>PDF, Word, Markdown or text on the live site, with progress and file confirmation</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Upload your documents (PDF, Word, MD) or try the demo</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upload.png"/>
          <p:cNvPicPr>
            <a:picLocks noChangeAspect="1"/>
          </p:cNvPicPr>
          <p:nvPr/>
        </p:nvPicPr>
        <p:blipFill>
          <a:blip r:embed="rId3"/>
          <a:stretch>
            <a:fillRect/>
          </a:stretch>
        </p:blipFill>
        <p:spPr>
          <a:xfrm>
            <a:off x="731520" y="4846320"/>
            <a:ext cx="3108960" cy="1001191"/>
          </a:xfrm>
          <a:prstGeom prst="rect">
            <a:avLst/>
          </a:prstGeom>
        </p:spPr>
      </p:pic>
      <p:sp>
        <p:nvSpPr>
          <p:cNvPr id="27" name="Live demo link"/>
          <p:cNvSpPr txBox="1"/>
          <p:nvPr/>
        </p:nvSpPr>
        <p:spPr>
          <a:xfrm>
            <a:off x="731520" y="4370832"/>
            <a:ext cx="3108960" cy="365760"/>
          </a:xfrm>
          <a:prstGeom prst="rect">
            <a:avLst/>
          </a:prstGeom>
          <a:noFill/>
        </p:spPr>
        <p:txBody>
          <a:bodyPr wrap="square" lIns="0" rIns="0" tIns="0" bIns="0" anchor="t">
            <a:spAutoFit/>
          </a:bodyPr>
          <a:lstStyle/>
          <a:p>
            <a:pPr algn="l"/>
            <a:r>
              <a:rPr sz="1250" b="1" i="0">
                <a:solidFill>
                  <a:srgbClr val="4DA3FF"/>
                </a:solidFill>
                <a:latin typeface="Calibri"/>
              </a:rPr>
              <a:t>▶  Upload live: </a:t>
            </a:r>
            <a:r>
              <a:rPr sz="1250" b="1" i="0">
                <a:solidFill>
                  <a:srgbClr val="FFFFFF"/>
                </a:solidFill>
                <a:latin typeface="Calibri"/>
                <a:hlinkClick r:id="rId4"/>
              </a:rPr>
              <a:t>rag-autopsy.vercel.app</a:t>
            </a:r>
          </a:p>
        </p:txBody>
      </p:sp>
      <p:pic>
        <p:nvPicPr>
          <p:cNvPr id="28" name="Picture 27" descr="dash_autopsy.png"/>
          <p:cNvPicPr>
            <a:picLocks noChangeAspect="1"/>
          </p:cNvPicPr>
          <p:nvPr/>
        </p:nvPicPr>
        <p:blipFill>
          <a:blip r:embed="rId5"/>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25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Deployed: </a:t>
            </a:r>
            <a:r>
              <a:rPr lang="en-US" sz="1300" dirty="0">
                <a:solidFill>
                  <a:srgbClr val="FFFFFF"/>
                </a:solidFill>
                <a:latin typeface="Calibri" pitchFamily="34" charset="0"/>
                <a:ea typeface="Calibri" pitchFamily="34" charset="-122"/>
                <a:cs typeface="Calibri" pitchFamily="34" charset="-120"/>
              </a:rPr>
              <a:t>dashboard on Vercel; backend via a secure Cloudflare tunnel; uploads capped at 3 files / 2 MB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Data stays with the team's backend; </a:t>
            </a:r>
            <a:r>
              <a:rPr lang="en-US" sz="1300" dirty="0">
                <a:solidFill>
                  <a:srgbClr val="FFFFFF"/>
                </a:solidFill>
                <a:latin typeface="Calibri" pitchFamily="34" charset="0"/>
                <a:ea typeface="Calibri" pitchFamily="34" charset="-122"/>
                <a:cs typeface="Calibri" pitchFamily="34" charset="-120"/>
              </a:rPr>
              <a:t>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format-tolerant parsing of model output;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
        <p:nvSpPr>
          <p:cNvPr id="6" name="Links"/>
          <p:cNvSpPr txBox="1"/>
          <p:nvPr/>
        </p:nvSpPr>
        <p:spPr>
          <a:xfrm>
            <a:off x="548640" y="5532120"/>
            <a:ext cx="7315200" cy="320040"/>
          </a:xfrm>
          <a:prstGeom prst="rect">
            <a:avLst/>
          </a:prstGeom>
          <a:noFill/>
        </p:spPr>
        <p:txBody>
          <a:bodyPr wrap="square" lIns="0" rIns="0" tIns="0" bIns="0" anchor="t">
            <a:spAutoFit/>
          </a:bodyPr>
          <a:lstStyle/>
          <a:p>
            <a:pPr algn="l"/>
            <a:r>
              <a:rPr sz="1300" b="1" i="0">
                <a:solidFill>
                  <a:srgbClr val="4DA3FF"/>
                </a:solidFill>
                <a:latin typeface="Calibri"/>
              </a:rPr>
              <a:t>Live demo  </a:t>
            </a:r>
            <a:r>
              <a:rPr sz="1300" b="0" i="0">
                <a:solidFill>
                  <a:srgbClr val="FFFFFF"/>
                </a:solidFill>
                <a:latin typeface="Calibri"/>
                <a:hlinkClick r:id="rId4"/>
              </a:rPr>
              <a:t>rag-autopsy.vercel.app</a:t>
            </a:r>
            <a:r>
              <a:rPr sz="1300" b="1" i="0">
                <a:solidFill>
                  <a:srgbClr val="4DA3FF"/>
                </a:solidFill>
                <a:latin typeface="Calibri"/>
              </a:rPr>
              <a:t>      Code  </a:t>
            </a:r>
            <a:r>
              <a:rPr sz="1300" b="0" i="0">
                <a:solidFill>
                  <a:srgbClr val="FFFFFF"/>
                </a:solidFill>
                <a:latin typeface="Calibri"/>
                <a:hlinkClick r:id="rId5"/>
              </a:rPr>
              <a:t>github.com/GargeeTripathi/rag-autopsy</a:t>
            </a:r>
          </a:p>
        </p:txBody>
      </p:sp>
      <p:sp>
        <p:nvSpPr>
          <p:cNvPr id="7" name="QR card"/>
          <p:cNvSpPr/>
          <p:nvPr/>
        </p:nvSpPr>
        <p:spPr>
          <a:xfrm>
            <a:off x="873252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Live demo QR code" descr="qr_demo.png">
            <a:hlinkClick r:id="rId4"/>
          </p:cNvPr>
          <p:cNvPicPr>
            <a:picLocks noChangeAspect="1"/>
          </p:cNvPicPr>
          <p:nvPr/>
        </p:nvPicPr>
        <p:blipFill>
          <a:blip r:embed="rId6"/>
          <a:stretch>
            <a:fillRect/>
          </a:stretch>
        </p:blipFill>
        <p:spPr>
          <a:xfrm>
            <a:off x="9098280" y="1874519"/>
            <a:ext cx="2194560" cy="2194560"/>
          </a:xfrm>
          <a:prstGeom prst="rect">
            <a:avLst/>
          </a:prstGeom>
        </p:spPr>
      </p:pic>
      <p:sp>
        <p:nvSpPr>
          <p:cNvPr id="9" name="TextBox 8"/>
          <p:cNvSpPr txBox="1"/>
          <p:nvPr/>
        </p:nvSpPr>
        <p:spPr>
          <a:xfrm>
            <a:off x="886968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LIVE DEMO</a:t>
            </a:r>
          </a:p>
        </p:txBody>
      </p:sp>
      <p:sp>
        <p:nvSpPr>
          <p:cNvPr id="10" name="TextBox 9"/>
          <p:cNvSpPr txBox="1"/>
          <p:nvPr/>
        </p:nvSpPr>
        <p:spPr>
          <a:xfrm>
            <a:off x="886968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4"/>
              </a:rPr>
              <a:t>rag-autopsy.vercel.app</a:t>
            </a:r>
          </a:p>
        </p:txBody>
      </p:sp>
      <p:sp>
        <p:nvSpPr>
          <p:cNvPr id="11" name="TextBox 10"/>
          <p:cNvSpPr txBox="1"/>
          <p:nvPr/>
        </p:nvSpPr>
        <p:spPr>
          <a:xfrm>
            <a:off x="886968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Explore the demo or upload your own docs</a:t>
            </a:r>
          </a:p>
        </p:txBody>
      </p:sp>
      <p:sp>
        <p:nvSpPr>
          <p:cNvPr id="12" name="Repo QR card"/>
          <p:cNvSpPr/>
          <p:nvPr/>
        </p:nvSpPr>
        <p:spPr>
          <a:xfrm>
            <a:off x="562356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GitHub repo QR code" descr="qr_repo.png">
            <a:hlinkClick r:id="rId5"/>
          </p:cNvPr>
          <p:cNvPicPr>
            <a:picLocks noChangeAspect="1"/>
          </p:cNvPicPr>
          <p:nvPr/>
        </p:nvPicPr>
        <p:blipFill>
          <a:blip r:embed="rId7"/>
          <a:stretch>
            <a:fillRect/>
          </a:stretch>
        </p:blipFill>
        <p:spPr>
          <a:xfrm>
            <a:off x="5989320" y="1874519"/>
            <a:ext cx="2194560" cy="2194560"/>
          </a:xfrm>
          <a:prstGeom prst="rect">
            <a:avLst/>
          </a:prstGeom>
        </p:spPr>
      </p:pic>
      <p:sp>
        <p:nvSpPr>
          <p:cNvPr id="14" name="TextBox 13"/>
          <p:cNvSpPr txBox="1"/>
          <p:nvPr/>
        </p:nvSpPr>
        <p:spPr>
          <a:xfrm>
            <a:off x="576072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SOURCE CODE</a:t>
            </a:r>
          </a:p>
        </p:txBody>
      </p:sp>
      <p:sp>
        <p:nvSpPr>
          <p:cNvPr id="15" name="TextBox 14"/>
          <p:cNvSpPr txBox="1"/>
          <p:nvPr/>
        </p:nvSpPr>
        <p:spPr>
          <a:xfrm>
            <a:off x="576072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5"/>
              </a:rPr>
              <a:t>GitHub repo</a:t>
            </a:r>
          </a:p>
        </p:txBody>
      </p:sp>
      <p:sp>
        <p:nvSpPr>
          <p:cNvPr id="16" name="TextBox 15"/>
          <p:cNvSpPr txBox="1"/>
          <p:nvPr/>
        </p:nvSpPr>
        <p:spPr>
          <a:xfrm>
            <a:off x="576072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README, architecture diagram and setup</a:t>
            </a:r>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