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27ABEB2-E2D6-8B5D-8C43-AD515931FF97}">
          <p14:sldIdLst>
            <p14:sldId id="256"/>
          </p14:sldIdLst>
        </p14:section>
        <p14:section name="Idea" id="{424F8A36-ACCB-3397-0AAB-0CB2C4908326}">
          <p14:sldIdLst>
            <p14:sldId id="257"/>
          </p14:sldIdLst>
        </p14:section>
        <p14:section name="Approach" id="{31124DFC-E20C-1ED4-B375-D41F266F42FE}">
          <p14:sldIdLst>
            <p14:sldId id="258"/>
            <p14:sldId id="259"/>
          </p14:sldIdLst>
        </p14:section>
        <p14:section name="Viability" id="{91BE2AC3-B619-7C48-B042-EB8D0232F76A}">
          <p14:sldIdLst>
            <p14:sldId id="260"/>
          </p14:sldIdLst>
        </p14:section>
        <p14:section name="Impact" id="{29995A27-38EA-056E-F972-2E7A1F9285D6}">
          <p14:sldIdLst>
            <p14:sldId id="261"/>
          </p14:sldIdLst>
        </p14:section>
        <p14:section name="Business" id="{F0599801-3B2B-D390-1AF0-755D83C156EC}">
          <p14:sldIdLst>
            <p14:sldId id="262"/>
          </p14:sldIdLst>
        </p14:section>
        <p14:section name="References" id="{15A8586F-328A-E5D8-5F10-90FA2904D36E}">
          <p14:sldIdLst>
            <p14:sldId id="263"/>
          </p14:sldIdLst>
        </p14:section>
        <p14:section name="Close" id="{01F624A0-4E19-FB90-EA64-AC0AB7BE0E6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7" d="100"/>
          <a:sy n="77" d="100"/>
        </p:scale>
        <p:origin x="24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588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took AI-04, the RAG evaluation pipeline. Our project is called RAG Autopsy: instead of giving a RAG system a score, it finds out why each wrong answer is wrong, proves it, and tests the fix.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when a RAG answer is wrong there are three different root causes, and today's tools only give you a score. Our solution generates test questions from your own documents, keeps the exact gold sentence for each, and diagnoses every failure. The key idea is the counterfactual at the bottom right: same model, same question, but we hand it only the gold chunk. If it now answers correctly, retrieval failed. That is proof, not a judge's opinion.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stages. Ingest and index the documents. Generate a test set where every question carries its gold evidence. Run the RAG under test, always keeping the top 50 ranked chunks so we can see where the right chunk landed. Then the cascade: cheap local models first, an LLM judge only if they can't decide, and the counterfactual only when still contested. A weighted vote gives the root cause and confidence, and each cause maps to a config fix we re-test automatically.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screen. The top row is the health of the RAG with confidence intervals. Pick a failure on the left and you get its autopsy: the answer coloured sentence by sentence, the ranked chunks with the gold one outlined, every lens's vote, and the counterfactual proof. The flow is three steps: documents in, evaluation run, apply the fix.</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already works end to end on a CPU laptop with free-tier APIs. The cascade keeps cost low: 0.36 LLM calls per question, and caching makes re-runs free. Main risks are rate limits, judge bias and imperfect generated questions, and each has a mitigation built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Socially, fewer confident wrong answers in chatbots people rely on. Environmentally, most checks run on small local models and nothing is computed twice. Technically, the fix loop is measurable: 10 of 12 failures fixed, none broken. Educationally, it makes RAG failures visible and explainable.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are teams shipping RAG products. The model is open core: free self-hosted tool, a paid hosted version with CI gates and team dashboards, and an enterprise on-prem tier. The long-term play is becoming the regression test every RAG change has to pass before deploy.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building blocks and the research they come from.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Happy to show the live demo or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YPNEXIS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YPNEXIS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105163" cy="502920"/>
          </a:xfrm>
          <a:prstGeom prst="rect">
            <a:avLst/>
          </a:prstGeom>
        </p:spPr>
      </p:pic>
      <p:sp>
        <p:nvSpPr>
          <p:cNvPr id="3" name="Text 0"/>
          <p:cNvSpPr/>
          <p:nvPr/>
        </p:nvSpPr>
        <p:spPr>
          <a:xfrm>
            <a:off x="2926080" y="365760"/>
            <a:ext cx="8778240" cy="365760"/>
          </a:xfrm>
          <a:prstGeom prst="rect">
            <a:avLst/>
          </a:prstGeom>
          <a:noFill/>
          <a:ln/>
        </p:spPr>
        <p:txBody>
          <a:bodyPr wrap="square" lIns="0" tIns="0" rIns="0" bIns="0" rtlCol="0" anchor="ctr"/>
          <a:lstStyle/>
          <a:p>
            <a:pPr marL="0" indent="0" algn="r">
              <a:buNone/>
            </a:pPr>
            <a:r>
              <a:rPr lang="en-US" sz="1100" kern="0" spc="300" dirty="0">
                <a:solidFill>
                  <a:srgbClr val="9CC4FF"/>
                </a:solidFill>
                <a:latin typeface="Arial" pitchFamily="34" charset="0"/>
                <a:ea typeface="Arial" pitchFamily="34" charset="-122"/>
                <a:cs typeface="Arial" pitchFamily="34" charset="-120"/>
              </a:rPr>
              <a:t>36-HOUR HACKATHON  |  24–25 OCTOBER 2026  |  MANIPAL UNIVERSITY JAIPUR</a:t>
            </a:r>
            <a:endParaRPr lang="en-US" sz="1100" dirty="0"/>
          </a:p>
        </p:txBody>
      </p:sp>
      <p:sp>
        <p:nvSpPr>
          <p:cNvPr id="4" name="Shape 1"/>
          <p:cNvSpPr/>
          <p:nvPr/>
        </p:nvSpPr>
        <p:spPr>
          <a:xfrm>
            <a:off x="457200" y="6355080"/>
            <a:ext cx="11274552" cy="9144"/>
          </a:xfrm>
          <a:prstGeom prst="rect">
            <a:avLst/>
          </a:prstGeom>
          <a:solidFill>
            <a:srgbClr val="1E5BFF">
              <a:alpha val="50000"/>
            </a:srgbClr>
          </a:solidFill>
          <a:ln/>
        </p:spPr>
      </p:sp>
      <p:sp>
        <p:nvSpPr>
          <p:cNvPr id="5" name="Text 2"/>
          <p:cNvSpPr/>
          <p:nvPr/>
        </p:nvSpPr>
        <p:spPr>
          <a:xfrm>
            <a:off x="457200" y="6428232"/>
            <a:ext cx="8229600" cy="274320"/>
          </a:xfrm>
          <a:prstGeom prst="rect">
            <a:avLst/>
          </a:prstGeom>
          <a:noFill/>
          <a:ln/>
        </p:spPr>
        <p:txBody>
          <a:bodyPr wrap="square" lIns="0" tIns="0" rIns="0" bIns="0" rtlCol="0" anchor="ctr"/>
          <a:lstStyle/>
          <a:p>
            <a:pPr marL="0" indent="0">
              <a:buNone/>
            </a:pPr>
            <a:r>
              <a:rPr lang="en-US" sz="1000" dirty="0">
                <a:solidFill>
                  <a:srgbClr val="9CC4FF"/>
                </a:solidFill>
                <a:latin typeface="Calibri" pitchFamily="34" charset="0"/>
                <a:ea typeface="Calibri" pitchFamily="34" charset="-122"/>
                <a:cs typeface="Calibri" pitchFamily="34" charset="-120"/>
              </a:rPr>
              <a:t>Department of Computer and Communications Engineering  •  Manipal University Jaipur</a:t>
            </a:r>
            <a:endParaRPr lang="en-US" sz="10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YPNEXIS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005840"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65760"/>
            <a:ext cx="6400800" cy="320040"/>
          </a:xfrm>
          <a:prstGeom prst="rect">
            <a:avLst/>
          </a:prstGeom>
          <a:noFill/>
          <a:ln/>
        </p:spPr>
        <p:txBody>
          <a:bodyPr wrap="square" lIns="0" tIns="0" rIns="0" bIns="0" rtlCol="0" anchor="ctr"/>
          <a:lstStyle/>
          <a:p>
            <a:pPr marL="0" indent="0">
              <a:buNone/>
            </a:pPr>
            <a:r>
              <a:rPr lang="en-US" sz="1400" b="1" kern="0" spc="400" dirty="0">
                <a:solidFill>
                  <a:srgbClr val="FFFFFF"/>
                </a:solidFill>
                <a:latin typeface="Arial" pitchFamily="34" charset="0"/>
                <a:ea typeface="Arial" pitchFamily="34" charset="-122"/>
                <a:cs typeface="Arial" pitchFamily="34" charset="-120"/>
              </a:rPr>
              <a:t>MANIPAL UNIVERSITY JAIPUR</a:t>
            </a:r>
            <a:endParaRPr lang="en-US" sz="1400" dirty="0"/>
          </a:p>
        </p:txBody>
      </p:sp>
      <p:sp>
        <p:nvSpPr>
          <p:cNvPr id="3" name="Text 1"/>
          <p:cNvSpPr txBox="1"/>
          <p:nvPr/>
        </p:nvSpPr>
        <p:spPr>
          <a:xfrm>
            <a:off x="548640" y="685800"/>
            <a:ext cx="7315200" cy="274320"/>
          </a:xfrm>
          <a:prstGeom prst="rect">
            <a:avLst/>
          </a:prstGeom>
          <a:noFill/>
          <a:ln/>
        </p:spPr>
        <p:txBody>
          <a:bodyPr wrap="square" lIns="0" tIns="0" rIns="0" bIns="0" rtlCol="0" anchor="ctr"/>
          <a:lstStyle/>
          <a:p>
            <a:pPr marL="0" indent="0">
              <a:buNone/>
            </a:pPr>
            <a:r>
              <a:rPr lang="en-US" sz="1200" dirty="0">
                <a:solidFill>
                  <a:srgbClr val="9CC4FF"/>
                </a:solidFill>
                <a:latin typeface="Calibri" pitchFamily="34" charset="0"/>
                <a:ea typeface="Calibri" pitchFamily="34" charset="-122"/>
                <a:cs typeface="Calibri" pitchFamily="34" charset="-120"/>
              </a:rPr>
              <a:t>Department of Computer and Communications Engineering</a:t>
            </a:r>
            <a:endParaRPr lang="en-US" sz="1200" dirty="0"/>
          </a:p>
        </p:txBody>
      </p:sp>
      <p:pic>
        <p:nvPicPr>
          <p:cNvPr id="4" name="Image 0" descr="HYPNEXIS 26 logo"/>
          <p:cNvPicPr>
            <a:picLocks noChangeAspect="1"/>
          </p:cNvPicPr>
          <p:nvPr/>
        </p:nvPicPr>
        <p:blipFill>
          <a:blip r:embed="rId3"/>
          <a:stretch>
            <a:fillRect/>
          </a:stretch>
        </p:blipFill>
        <p:spPr>
          <a:xfrm>
            <a:off x="548640" y="1600200"/>
            <a:ext cx="5120640" cy="2330220"/>
          </a:xfrm>
          <a:prstGeom prst="rect">
            <a:avLst/>
          </a:prstGeom>
        </p:spPr>
      </p:pic>
      <p:sp>
        <p:nvSpPr>
          <p:cNvPr id="5" name="Text 2"/>
          <p:cNvSpPr txBox="1"/>
          <p:nvPr/>
        </p:nvSpPr>
        <p:spPr>
          <a:xfrm>
            <a:off x="548640" y="4526280"/>
            <a:ext cx="6400800" cy="320040"/>
          </a:xfrm>
          <a:prstGeom prst="rect">
            <a:avLst/>
          </a:prstGeom>
          <a:noFill/>
          <a:ln/>
        </p:spPr>
        <p:txBody>
          <a:bodyPr wrap="square" lIns="0" tIns="0" rIns="0" bIns="0" rtlCol="0" anchor="ctr"/>
          <a:lstStyle/>
          <a:p>
            <a:pPr marL="0" indent="0">
              <a:buNone/>
            </a:pPr>
            <a:r>
              <a:rPr lang="en-US" sz="1400" b="1" kern="0" spc="300" dirty="0">
                <a:solidFill>
                  <a:srgbClr val="4DA3FF"/>
                </a:solidFill>
                <a:latin typeface="Arial" pitchFamily="34" charset="0"/>
                <a:ea typeface="Arial" pitchFamily="34" charset="-122"/>
                <a:cs typeface="Arial" pitchFamily="34" charset="-120"/>
              </a:rPr>
              <a:t>36-HOUR HACKATHON  •  24–25 OCTOBER 2026</a:t>
            </a:r>
            <a:endParaRPr lang="en-US" sz="1400" dirty="0"/>
          </a:p>
        </p:txBody>
      </p:sp>
      <p:sp>
        <p:nvSpPr>
          <p:cNvPr id="6" name="Text 3"/>
          <p:cNvSpPr txBox="1"/>
          <p:nvPr/>
        </p:nvSpPr>
        <p:spPr>
          <a:xfrm>
            <a:off x="548640" y="4892040"/>
            <a:ext cx="6400800" cy="274320"/>
          </a:xfrm>
          <a:prstGeom prst="rect">
            <a:avLst/>
          </a:prstGeom>
          <a:noFill/>
          <a:ln/>
        </p:spPr>
        <p:txBody>
          <a:bodyPr wrap="square" lIns="0" tIns="0" rIns="0" bIns="0" rtlCol="0" anchor="ctr"/>
          <a:lstStyle/>
          <a:p>
            <a:pPr marL="0" indent="0">
              <a:buNone/>
            </a:pPr>
            <a:r>
              <a:rPr lang="en-US" sz="1200" kern="0" spc="400" dirty="0">
                <a:solidFill>
                  <a:srgbClr val="FFFFFF"/>
                </a:solidFill>
                <a:latin typeface="Arial" pitchFamily="34" charset="0"/>
                <a:ea typeface="Arial" pitchFamily="34" charset="-122"/>
                <a:cs typeface="Arial" pitchFamily="34" charset="-120"/>
              </a:rPr>
              <a:t>BUILD / INNOVATE / CREATE</a:t>
            </a:r>
            <a:endParaRPr lang="en-US" sz="1200" dirty="0"/>
          </a:p>
        </p:txBody>
      </p:sp>
      <p:sp>
        <p:nvSpPr>
          <p:cNvPr id="7" name="Team details card"/>
          <p:cNvSpPr/>
          <p:nvPr/>
        </p:nvSpPr>
        <p:spPr>
          <a:xfrm>
            <a:off x="6949440" y="1371600"/>
            <a:ext cx="4754880" cy="4480560"/>
          </a:xfrm>
          <a:prstGeom prst="roundRect">
            <a:avLst>
              <a:gd name="adj" fmla="val 2449"/>
            </a:avLst>
          </a:prstGeom>
          <a:solidFill>
            <a:srgbClr val="0B1A4A">
              <a:alpha val="75000"/>
            </a:srgbClr>
          </a:solidFill>
          <a:ln w="12700">
            <a:solidFill>
              <a:srgbClr val="1E5BFF"/>
            </a:solidFill>
            <a:prstDash val="solid"/>
          </a:ln>
        </p:spPr>
      </p:sp>
      <p:sp>
        <p:nvSpPr>
          <p:cNvPr id="8" name="Text 5"/>
          <p:cNvSpPr txBox="1"/>
          <p:nvPr/>
        </p:nvSpPr>
        <p:spPr>
          <a:xfrm>
            <a:off x="7223760" y="155448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NAME</a:t>
            </a:r>
            <a:endParaRPr lang="en-US" sz="1100" dirty="0"/>
          </a:p>
        </p:txBody>
      </p:sp>
      <p:sp>
        <p:nvSpPr>
          <p:cNvPr id="9" name="Text 6"/>
          <p:cNvSpPr txBox="1"/>
          <p:nvPr/>
        </p:nvSpPr>
        <p:spPr>
          <a:xfrm>
            <a:off x="7223760" y="180136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Team Name</a:t>
            </a:r>
            <a:endParaRPr lang="en-US" sz="1600" dirty="0"/>
          </a:p>
        </p:txBody>
      </p:sp>
      <p:sp>
        <p:nvSpPr>
          <p:cNvPr id="10" name="Text 7"/>
          <p:cNvSpPr txBox="1"/>
          <p:nvPr/>
        </p:nvSpPr>
        <p:spPr>
          <a:xfrm>
            <a:off x="7223760" y="2249424"/>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ID</a:t>
            </a:r>
            <a:endParaRPr lang="en-US" sz="1100" dirty="0"/>
          </a:p>
        </p:txBody>
      </p:sp>
      <p:sp>
        <p:nvSpPr>
          <p:cNvPr id="11" name="Text 8"/>
          <p:cNvSpPr txBox="1"/>
          <p:nvPr/>
        </p:nvSpPr>
        <p:spPr>
          <a:xfrm>
            <a:off x="7223760" y="2496312"/>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HXXXX</a:t>
            </a:r>
            <a:endParaRPr lang="en-US" sz="1600" dirty="0"/>
          </a:p>
        </p:txBody>
      </p:sp>
      <p:sp>
        <p:nvSpPr>
          <p:cNvPr id="12" name="Text 9"/>
          <p:cNvSpPr txBox="1"/>
          <p:nvPr/>
        </p:nvSpPr>
        <p:spPr>
          <a:xfrm>
            <a:off x="7223760" y="2944368"/>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ID</a:t>
            </a:r>
            <a:endParaRPr lang="en-US" sz="1100" dirty="0"/>
          </a:p>
        </p:txBody>
      </p:sp>
      <p:sp>
        <p:nvSpPr>
          <p:cNvPr id="13" name="Text 10"/>
          <p:cNvSpPr txBox="1"/>
          <p:nvPr/>
        </p:nvSpPr>
        <p:spPr>
          <a:xfrm>
            <a:off x="7223760" y="3191256"/>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AI-04</a:t>
            </a:r>
            <a:endParaRPr lang="en-US" sz="1600" dirty="0"/>
          </a:p>
        </p:txBody>
      </p:sp>
      <p:sp>
        <p:nvSpPr>
          <p:cNvPr id="14" name="Text 11"/>
          <p:cNvSpPr txBox="1"/>
          <p:nvPr/>
        </p:nvSpPr>
        <p:spPr>
          <a:xfrm>
            <a:off x="7223760" y="3639312"/>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TITLE</a:t>
            </a:r>
            <a:endParaRPr lang="en-US" sz="1100" dirty="0"/>
          </a:p>
        </p:txBody>
      </p:sp>
      <p:sp>
        <p:nvSpPr>
          <p:cNvPr id="15" name="Text 12"/>
          <p:cNvSpPr txBox="1"/>
          <p:nvPr/>
        </p:nvSpPr>
        <p:spPr>
          <a:xfrm>
            <a:off x="7223760" y="3886200"/>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RAG Evaluation Pipeline</a:t>
            </a:r>
            <a:endParaRPr lang="en-US" sz="1600" dirty="0"/>
          </a:p>
        </p:txBody>
      </p:sp>
      <p:sp>
        <p:nvSpPr>
          <p:cNvPr id="16" name="Text 13"/>
          <p:cNvSpPr txBox="1"/>
          <p:nvPr/>
        </p:nvSpPr>
        <p:spPr>
          <a:xfrm>
            <a:off x="7223760" y="4334256"/>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THEME / DOMAIN</a:t>
            </a:r>
            <a:endParaRPr lang="en-US" sz="1100" dirty="0"/>
          </a:p>
        </p:txBody>
      </p:sp>
      <p:sp>
        <p:nvSpPr>
          <p:cNvPr id="17" name="Text 14"/>
          <p:cNvSpPr txBox="1"/>
          <p:nvPr/>
        </p:nvSpPr>
        <p:spPr>
          <a:xfrm>
            <a:off x="7223760" y="4581144"/>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Artificial Intelligence</a:t>
            </a:r>
            <a:endParaRPr lang="en-US" sz="1600" dirty="0"/>
          </a:p>
        </p:txBody>
      </p:sp>
      <p:sp>
        <p:nvSpPr>
          <p:cNvPr id="18" name="Text 15"/>
          <p:cNvSpPr txBox="1"/>
          <p:nvPr/>
        </p:nvSpPr>
        <p:spPr>
          <a:xfrm>
            <a:off x="7223760" y="502920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CATEGORY</a:t>
            </a:r>
            <a:endParaRPr lang="en-US" sz="1100" dirty="0"/>
          </a:p>
        </p:txBody>
      </p:sp>
      <p:sp>
        <p:nvSpPr>
          <p:cNvPr id="19" name="Text 16"/>
          <p:cNvSpPr txBox="1"/>
          <p:nvPr/>
        </p:nvSpPr>
        <p:spPr>
          <a:xfrm>
            <a:off x="7223760" y="527608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Software</a:t>
            </a:r>
            <a:endParaRPr lang="en-US" sz="1600" dirty="0"/>
          </a:p>
        </p:txBody>
      </p:sp>
      <p:sp>
        <p:nvSpPr>
          <p:cNvPr id="20" name="Text 17"/>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100" dirty="0">
                <a:solidFill>
                  <a:srgbClr val="9CC4FF"/>
                </a:solidFill>
                <a:latin typeface="Calibri" pitchFamily="34" charset="0"/>
                <a:ea typeface="Calibri" pitchFamily="34" charset="-122"/>
                <a:cs typeface="Calibri" pitchFamily="34" charset="-120"/>
              </a:rPr>
              <a:t>hypnexismuj.com   |   @hypnexis.muj   |   hypnexis2026@muj.manipal.edu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RAG AUTOPSY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Problem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Problem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PROBLEM STATEMENT</a:t>
            </a:r>
            <a:endParaRPr lang="en-US" sz="1500" dirty="0"/>
          </a:p>
        </p:txBody>
      </p:sp>
      <p:sp>
        <p:nvSpPr>
          <p:cNvPr id="6" name="Problem body"/>
          <p:cNvSpPr txBox="1"/>
          <p:nvPr/>
        </p:nvSpPr>
        <p:spPr>
          <a:xfrm>
            <a:off x="731520" y="2286000"/>
            <a:ext cx="493776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RAG chatbots answer from documents, but when an answer is wrong, teams can't tell why.</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Three very different causes: </a:t>
            </a:r>
            <a:r>
              <a:rPr lang="en-US" sz="1400" dirty="0">
                <a:solidFill>
                  <a:srgbClr val="FFFFFF"/>
                </a:solidFill>
                <a:latin typeface="Calibri" pitchFamily="34" charset="0"/>
                <a:ea typeface="Calibri" pitchFamily="34" charset="-122"/>
                <a:cs typeface="Calibri" pitchFamily="34" charset="-120"/>
              </a:rPr>
              <a:t>the right passage was never retrieved, the model invented facts, or it answered something the documents can't answer.</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Existing tools (RAGAS, TruLens) give scores, </a:t>
            </a:r>
            <a:r>
              <a:rPr lang="en-US" sz="1400" dirty="0">
                <a:solidFill>
                  <a:srgbClr val="FFFFFF"/>
                </a:solidFill>
                <a:latin typeface="Calibri" pitchFamily="34" charset="0"/>
                <a:ea typeface="Calibri" pitchFamily="34" charset="-122"/>
                <a:cs typeface="Calibri" pitchFamily="34" charset="-120"/>
              </a:rPr>
              <a:t>like “faithfulness 0.71”: a fever reading, not a diagnosis.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LLM-as-judge verdicts are opinions: no proof, no fix, no check that a fix worked.</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Result: </a:t>
            </a:r>
            <a:r>
              <a:rPr lang="en-US" sz="1400" dirty="0">
                <a:solidFill>
                  <a:srgbClr val="FFFFFF"/>
                </a:solidFill>
                <a:latin typeface="Calibri" pitchFamily="34" charset="0"/>
                <a:ea typeface="Calibri" pitchFamily="34" charset="-122"/>
                <a:cs typeface="Calibri" pitchFamily="34" charset="-120"/>
              </a:rPr>
              <a:t>chunk size, top-k and prompts are tuned by trial and error, and wrong answers ship to users.</a:t>
            </a:r>
            <a:endParaRPr lang="en-US" sz="1400" dirty="0"/>
          </a:p>
        </p:txBody>
      </p:sp>
      <p:sp>
        <p:nvSpPr>
          <p:cNvPr id="7" name="Solution card"/>
          <p:cNvSpPr/>
          <p:nvPr/>
        </p:nvSpPr>
        <p:spPr>
          <a:xfrm>
            <a:off x="6245352" y="1691640"/>
            <a:ext cx="5486400" cy="2743200"/>
          </a:xfrm>
          <a:prstGeom prst="roundRect">
            <a:avLst>
              <a:gd name="adj" fmla="val 4000"/>
            </a:avLst>
          </a:prstGeom>
          <a:solidFill>
            <a:srgbClr val="0B1A4A">
              <a:alpha val="75000"/>
            </a:srgbClr>
          </a:solidFill>
          <a:ln w="12700">
            <a:solidFill>
              <a:srgbClr val="1E5BFF"/>
            </a:solidFill>
            <a:prstDash val="solid"/>
          </a:ln>
        </p:spPr>
      </p:sp>
      <p:sp>
        <p:nvSpPr>
          <p:cNvPr id="8" name="Solution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OUR SOLUTION</a:t>
            </a:r>
            <a:endParaRPr lang="en-US" sz="1500" dirty="0"/>
          </a:p>
        </p:txBody>
      </p:sp>
      <p:sp>
        <p:nvSpPr>
          <p:cNvPr id="9" name="Solution body"/>
          <p:cNvSpPr txBox="1"/>
          <p:nvPr/>
        </p:nvSpPr>
        <p:spPr>
          <a:xfrm>
            <a:off x="6519672" y="2286000"/>
            <a:ext cx="49377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Test set from your own docs: </a:t>
            </a:r>
            <a:r>
              <a:rPr lang="en-US" sz="1300" dirty="0">
                <a:solidFill>
                  <a:srgbClr val="FFFFFF"/>
                </a:solidFill>
                <a:latin typeface="Calibri" pitchFamily="34" charset="0"/>
                <a:ea typeface="Calibri" pitchFamily="34" charset="-122"/>
                <a:cs typeface="Calibri" pitchFamily="34" charset="-120"/>
              </a:rPr>
              <a:t>every question is tied to the exact gold sentence that answers it.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Diagnoses every failure: </a:t>
            </a:r>
            <a:r>
              <a:rPr lang="en-US" sz="1300" dirty="0">
                <a:solidFill>
                  <a:srgbClr val="FFFFFF"/>
                </a:solidFill>
                <a:latin typeface="Calibri" pitchFamily="34" charset="0"/>
                <a:ea typeface="Calibri" pitchFamily="34" charset="-122"/>
                <a:cs typeface="Calibri" pitchFamily="34" charset="-120"/>
              </a:rPr>
              <a:t>retrieval / generation / abstention, with a sub-cause and a confidence.</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Proves retrieval failures: </a:t>
            </a:r>
            <a:r>
              <a:rPr lang="en-US" sz="1300" dirty="0">
                <a:solidFill>
                  <a:srgbClr val="FFFFFF"/>
                </a:solidFill>
                <a:latin typeface="Calibri" pitchFamily="34" charset="0"/>
                <a:ea typeface="Calibri" pitchFamily="34" charset="-122"/>
                <a:cs typeface="Calibri" pitchFamily="34" charset="-120"/>
              </a:rPr>
              <a:t>swap the gold chunk in and re-ask the same model.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Prescribes a config fix and re-tests it: </a:t>
            </a:r>
            <a:r>
              <a:rPr lang="en-US" sz="1300" dirty="0">
                <a:solidFill>
                  <a:srgbClr val="FFFFFF"/>
                </a:solidFill>
                <a:latin typeface="Calibri" pitchFamily="34" charset="0"/>
                <a:ea typeface="Calibri" pitchFamily="34" charset="-122"/>
                <a:cs typeface="Calibri" pitchFamily="34" charset="-120"/>
              </a:rPr>
              <a:t>before / after in one click.</a:t>
            </a:r>
            <a:endParaRPr lang="en-US" sz="1400" dirty="0"/>
          </a:p>
        </p:txBody>
      </p:sp>
      <p:sp>
        <p:nvSpPr>
          <p:cNvPr id="10" name="Visual card"/>
          <p:cNvSpPr/>
          <p:nvPr/>
        </p:nvSpPr>
        <p:spPr>
          <a:xfrm>
            <a:off x="6245352" y="4617720"/>
            <a:ext cx="5486400" cy="1508760"/>
          </a:xfrm>
          <a:prstGeom prst="roundRect">
            <a:avLst>
              <a:gd name="adj" fmla="val 7273"/>
            </a:avLst>
          </a:prstGeom>
          <a:solidFill>
            <a:srgbClr val="0B1A4A">
              <a:alpha val="75000"/>
            </a:srgbClr>
          </a:solidFill>
          <a:ln w="12700">
            <a:solidFill>
              <a:srgbClr val="1E5BFF"/>
            </a:solidFill>
            <a:prstDash val="solid"/>
          </a:ln>
        </p:spPr>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2</a:t>
            </a:fld>
            <a:endParaRPr lang="en-US"/>
          </a:p>
        </p:txBody>
      </p:sp>
      <p:sp>
        <p:nvSpPr>
          <p:cNvPr id="26" name="TextBox 25"/>
          <p:cNvSpPr txBox="1"/>
          <p:nvPr/>
        </p:nvSpPr>
        <p:spPr>
          <a:xfrm>
            <a:off x="6446520" y="4727448"/>
            <a:ext cx="5120640" cy="228600"/>
          </a:xfrm>
          <a:prstGeom prst="rect">
            <a:avLst/>
          </a:prstGeom>
          <a:noFill/>
        </p:spPr>
        <p:txBody>
          <a:bodyPr wrap="square" lIns="0" rIns="0" tIns="0" bIns="0" anchor="t">
            <a:spAutoFit/>
          </a:bodyPr>
          <a:lstStyle/>
          <a:p>
            <a:pPr algn="l"/>
            <a:r>
              <a:rPr sz="1050" b="1" i="0">
                <a:solidFill>
                  <a:srgbClr val="4DA3FF"/>
                </a:solidFill>
                <a:latin typeface="Arial"/>
              </a:rPr>
              <a:t>THE PROOF: GOLD-CHUNK COUNTERFACTUAL</a:t>
            </a:r>
          </a:p>
        </p:txBody>
      </p:sp>
      <p:sp>
        <p:nvSpPr>
          <p:cNvPr id="27" name="Rounded Rectangle 26"/>
          <p:cNvSpPr/>
          <p:nvPr/>
        </p:nvSpPr>
        <p:spPr>
          <a:xfrm>
            <a:off x="6446520" y="5029200"/>
            <a:ext cx="1600200" cy="932688"/>
          </a:xfrm>
          <a:prstGeom prst="roundRect">
            <a:avLst>
              <a:gd name="adj" fmla="val 8000"/>
            </a:avLst>
          </a:prstGeom>
          <a:solidFill>
            <a:srgbClr val="0E2366"/>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5624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Retrieved context</a:t>
            </a:r>
          </a:p>
          <a:p>
            <a:pPr algn="l">
              <a:spcAft>
                <a:spcPts val="200"/>
              </a:spcAft>
            </a:pPr>
            <a:r>
              <a:rPr sz="1100" b="0" i="0">
                <a:solidFill>
                  <a:srgbClr val="FB7185"/>
                </a:solidFill>
                <a:latin typeface="Calibri"/>
              </a:rPr>
              <a:t>✗  “There is no mention of a CarePlus plan”</a:t>
            </a:r>
          </a:p>
        </p:txBody>
      </p:sp>
      <p:sp>
        <p:nvSpPr>
          <p:cNvPr id="29" name="Rounded Rectangle 28"/>
          <p:cNvSpPr/>
          <p:nvPr/>
        </p:nvSpPr>
        <p:spPr>
          <a:xfrm>
            <a:off x="8366760" y="5029200"/>
            <a:ext cx="1600200" cy="932688"/>
          </a:xfrm>
          <a:prstGeom prst="roundRect">
            <a:avLst>
              <a:gd name="adj" fmla="val 8000"/>
            </a:avLst>
          </a:prstGeom>
          <a:solidFill>
            <a:srgbClr val="0E2366"/>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7648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Gold chunk only</a:t>
            </a:r>
          </a:p>
          <a:p>
            <a:pPr algn="l">
              <a:spcAft>
                <a:spcPts val="200"/>
              </a:spcAft>
            </a:pPr>
            <a:r>
              <a:rPr sz="1100" b="0" i="0">
                <a:solidFill>
                  <a:srgbClr val="34D399"/>
                </a:solidFill>
                <a:latin typeface="Calibri"/>
              </a:rPr>
              <a:t>✓  “The transfer fee is INR 500”</a:t>
            </a:r>
          </a:p>
        </p:txBody>
      </p:sp>
      <p:cxnSp>
        <p:nvCxnSpPr>
          <p:cNvPr id="31" name="Connector 30"/>
          <p:cNvCxnSpPr/>
          <p:nvPr/>
        </p:nvCxnSpPr>
        <p:spPr>
          <a:xfrm>
            <a:off x="8074152" y="5495544"/>
            <a:ext cx="265175"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94392" y="5495544"/>
            <a:ext cx="265176"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287000" y="5029200"/>
            <a:ext cx="1280160" cy="932688"/>
          </a:xfrm>
          <a:prstGeom prst="roundRect">
            <a:avLst>
              <a:gd name="adj" fmla="val 8000"/>
            </a:avLst>
          </a:prstGeom>
          <a:solidFill>
            <a:srgbClr val="1E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332720" y="5029200"/>
            <a:ext cx="1188720" cy="932688"/>
          </a:xfrm>
          <a:prstGeom prst="rect">
            <a:avLst/>
          </a:prstGeom>
          <a:noFill/>
        </p:spPr>
        <p:txBody>
          <a:bodyPr wrap="square" lIns="0" rIns="0" tIns="0" bIns="0" anchor="ctr">
            <a:spAutoFit/>
          </a:bodyPr>
          <a:lstStyle/>
          <a:p>
            <a:pPr algn="ctr"/>
            <a:r>
              <a:rPr sz="1150" b="1" i="0">
                <a:solidFill>
                  <a:srgbClr val="FFFFFF"/>
                </a:solidFill>
                <a:latin typeface="Calibri"/>
              </a:rPr>
              <a:t>Retrieval failure, </a:t>
            </a:r>
          </a:p>
          <a:p>
            <a:pPr algn="ctr"/>
            <a:r>
              <a:rPr sz="1150" b="1" i="0">
                <a:solidFill>
                  <a:srgbClr val="C7F9E5"/>
                </a:solidFill>
                <a:latin typeface="Calibri"/>
              </a:rPr>
              <a:t>proven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TECHNICAL APPROACH</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Architecture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Arch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SYSTEM ARCHITECTURE</a:t>
            </a:r>
            <a:endParaRPr lang="en-US" sz="1500" dirty="0"/>
          </a:p>
        </p:txBody>
      </p:sp>
      <p:sp>
        <p:nvSpPr>
          <p:cNvPr id="7" name="Tech card"/>
          <p:cNvSpPr/>
          <p:nvPr/>
        </p:nvSpPr>
        <p:spPr>
          <a:xfrm>
            <a:off x="6245352" y="1691640"/>
            <a:ext cx="5486400" cy="2148840"/>
          </a:xfrm>
          <a:prstGeom prst="roundRect">
            <a:avLst>
              <a:gd name="adj" fmla="val 5106"/>
            </a:avLst>
          </a:prstGeom>
          <a:solidFill>
            <a:srgbClr val="0B1A4A">
              <a:alpha val="75000"/>
            </a:srgbClr>
          </a:solidFill>
          <a:ln w="12700">
            <a:solidFill>
              <a:srgbClr val="1E5BFF"/>
            </a:solidFill>
            <a:prstDash val="solid"/>
          </a:ln>
        </p:spPr>
      </p:sp>
      <p:sp>
        <p:nvSpPr>
          <p:cNvPr id="8" name="Tech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CORE TECHNOLOGIES</a:t>
            </a:r>
            <a:endParaRPr lang="en-US" sz="1500" dirty="0"/>
          </a:p>
        </p:txBody>
      </p:sp>
      <p:sp>
        <p:nvSpPr>
          <p:cNvPr id="9" name="Tech body"/>
          <p:cNvSpPr txBox="1"/>
          <p:nvPr/>
        </p:nvSpPr>
        <p:spPr>
          <a:xfrm>
            <a:off x="6519672" y="2286000"/>
            <a:ext cx="49377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Backend: </a:t>
            </a:r>
            <a:r>
              <a:rPr lang="en-US" sz="1200" dirty="0">
                <a:solidFill>
                  <a:srgbClr val="FFFFFF"/>
                </a:solidFill>
                <a:latin typeface="Calibri" pitchFamily="34" charset="0"/>
                <a:ea typeface="Calibri" pitchFamily="34" charset="-122"/>
                <a:cs typeface="Calibri" pitchFamily="34" charset="-120"/>
              </a:rPr>
              <a:t>Python 3.11, FastAPI, Pydantic, asyncio; React + Tailwind dashboard</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Retrieval: </a:t>
            </a:r>
            <a:r>
              <a:rPr lang="en-US" sz="1200" dirty="0">
                <a:solidFill>
                  <a:srgbClr val="FFFFFF"/>
                </a:solidFill>
                <a:latin typeface="Calibri" pitchFamily="34" charset="0"/>
                <a:ea typeface="Calibri" pitchFamily="34" charset="-122"/>
                <a:cs typeface="Calibri" pitchFamily="34" charset="-120"/>
              </a:rPr>
              <a:t>ChromaDB, bge-small embeddings, BM25 + RRF, bge-reranker</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Local checkers (no LLM): </a:t>
            </a:r>
            <a:r>
              <a:rPr lang="en-US" sz="1200" dirty="0">
                <a:solidFill>
                  <a:srgbClr val="FFFFFF"/>
                </a:solidFill>
                <a:latin typeface="Calibri" pitchFamily="34" charset="0"/>
                <a:ea typeface="Calibri" pitchFamily="34" charset="-122"/>
                <a:cs typeface="Calibri" pitchFamily="34" charset="-120"/>
              </a:rPr>
              <a:t>LettuceDetect, HHEM-2.1 / MiniCheck</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LLMs: </a:t>
            </a:r>
            <a:r>
              <a:rPr lang="en-US" sz="1200" dirty="0">
                <a:solidFill>
                  <a:srgbClr val="FFFFFF"/>
                </a:solidFill>
                <a:latin typeface="Calibri" pitchFamily="34" charset="0"/>
                <a:ea typeface="Calibri" pitchFamily="34" charset="-122"/>
                <a:cs typeface="Calibri" pitchFamily="34" charset="-120"/>
              </a:rPr>
              <a:t>Gemini (generator) + Groq gpt-oss-120b (judge), any OpenAI-compatible API</a:t>
            </a:r>
            <a:endParaRPr lang="en-US" sz="1400" dirty="0"/>
          </a:p>
        </p:txBody>
      </p:sp>
      <p:sp>
        <p:nvSpPr>
          <p:cNvPr id="10" name="Unique card"/>
          <p:cNvSpPr/>
          <p:nvPr/>
        </p:nvSpPr>
        <p:spPr>
          <a:xfrm>
            <a:off x="6245352" y="4023360"/>
            <a:ext cx="5486400" cy="2103120"/>
          </a:xfrm>
          <a:prstGeom prst="roundRect">
            <a:avLst>
              <a:gd name="adj" fmla="val 5217"/>
            </a:avLst>
          </a:prstGeom>
          <a:solidFill>
            <a:srgbClr val="0B1A4A">
              <a:alpha val="75000"/>
            </a:srgbClr>
          </a:solidFill>
          <a:ln w="12700">
            <a:solidFill>
              <a:srgbClr val="1E5BFF"/>
            </a:solidFill>
            <a:prstDash val="solid"/>
          </a:ln>
        </p:spPr>
      </p:sp>
      <p:sp>
        <p:nvSpPr>
          <p:cNvPr id="11" name="Unique head"/>
          <p:cNvSpPr txBox="1"/>
          <p:nvPr/>
        </p:nvSpPr>
        <p:spPr>
          <a:xfrm>
            <a:off x="6519672" y="420624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UNIQUE POINTS</a:t>
            </a:r>
            <a:endParaRPr lang="en-US" sz="1500" dirty="0"/>
          </a:p>
        </p:txBody>
      </p:sp>
      <p:sp>
        <p:nvSpPr>
          <p:cNvPr id="12" name="Unique body"/>
          <p:cNvSpPr txBox="1"/>
          <p:nvPr/>
        </p:nvSpPr>
        <p:spPr>
          <a:xfrm>
            <a:off x="651967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Causal proof, </a:t>
            </a:r>
            <a:r>
              <a:rPr lang="en-US" sz="1300" dirty="0">
                <a:solidFill>
                  <a:srgbClr val="FFFFFF"/>
                </a:solidFill>
                <a:latin typeface="Calibri" pitchFamily="34" charset="0"/>
                <a:ea typeface="Calibri" pitchFamily="34" charset="-122"/>
                <a:cs typeface="Calibri" pitchFamily="34" charset="-120"/>
              </a:rPr>
              <a:t>not a judge's opinion: the gold-chunk counterfactual.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Cost-aware cascade: </a:t>
            </a:r>
            <a:r>
              <a:rPr lang="en-US" sz="1300" dirty="0">
                <a:solidFill>
                  <a:srgbClr val="FFFFFF"/>
                </a:solidFill>
                <a:latin typeface="Calibri" pitchFamily="34" charset="0"/>
                <a:ea typeface="Calibri" pitchFamily="34" charset="-122"/>
                <a:cs typeface="Calibri" pitchFamily="34" charset="-120"/>
              </a:rPr>
              <a:t>81% of questions settled with zero LLM calls (0.36 calls / question).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Closed loop: </a:t>
            </a:r>
            <a:r>
              <a:rPr lang="en-US" sz="1300" dirty="0">
                <a:solidFill>
                  <a:srgbClr val="FFFFFF"/>
                </a:solidFill>
                <a:latin typeface="Calibri" pitchFamily="34" charset="0"/>
                <a:ea typeface="Calibri" pitchFamily="34" charset="-122"/>
                <a:cs typeface="Calibri" pitchFamily="34" charset="-120"/>
              </a:rPr>
              <a:t>diagnosis → prescription → verified fix.</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3</a:t>
            </a:fld>
            <a:endParaRPr lang="en-US"/>
          </a:p>
        </p:txBody>
      </p:sp>
      <p:cxnSp>
        <p:nvCxnSpPr>
          <p:cNvPr id="26" name="Connector 25"/>
          <p:cNvCxnSpPr/>
          <p:nvPr/>
        </p:nvCxnSpPr>
        <p:spPr>
          <a:xfrm>
            <a:off x="914400" y="2715768"/>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31520" y="233172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2331720"/>
            <a:ext cx="384048" cy="384048"/>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29" name="TextBox 28"/>
          <p:cNvSpPr txBox="1"/>
          <p:nvPr/>
        </p:nvSpPr>
        <p:spPr>
          <a:xfrm>
            <a:off x="1325880" y="2313432"/>
            <a:ext cx="4389120" cy="502920"/>
          </a:xfrm>
          <a:prstGeom prst="rect">
            <a:avLst/>
          </a:prstGeom>
          <a:noFill/>
        </p:spPr>
        <p:txBody>
          <a:bodyPr wrap="square" lIns="0" rIns="0" tIns="0" bIns="0" anchor="t">
            <a:spAutoFit/>
          </a:bodyPr>
          <a:lstStyle/>
          <a:p>
            <a:pPr algn="l"/>
            <a:r>
              <a:rPr sz="1300" b="1" i="0">
                <a:solidFill>
                  <a:srgbClr val="FFFFFF"/>
                </a:solidFill>
                <a:latin typeface="Calibri"/>
              </a:rPr>
              <a:t>Ingest</a:t>
            </a:r>
          </a:p>
          <a:p>
            <a:pPr algn="l"/>
            <a:r>
              <a:rPr sz="1100" b="0" i="0">
                <a:solidFill>
                  <a:srgbClr val="9CC4FF"/>
                </a:solidFill>
                <a:latin typeface="Calibri"/>
              </a:rPr>
              <a:t>PDF / DOCX / MD → chunks → bge embeddings → ChromaDB</a:t>
            </a:r>
          </a:p>
        </p:txBody>
      </p:sp>
      <p:cxnSp>
        <p:nvCxnSpPr>
          <p:cNvPr id="30" name="Connector 29"/>
          <p:cNvCxnSpPr/>
          <p:nvPr/>
        </p:nvCxnSpPr>
        <p:spPr>
          <a:xfrm>
            <a:off x="914400" y="3319272"/>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1520" y="2935224"/>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2935224"/>
            <a:ext cx="384048" cy="384048"/>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33" name="TextBox 32"/>
          <p:cNvSpPr txBox="1"/>
          <p:nvPr/>
        </p:nvSpPr>
        <p:spPr>
          <a:xfrm>
            <a:off x="1325880" y="2916936"/>
            <a:ext cx="4389120" cy="502920"/>
          </a:xfrm>
          <a:prstGeom prst="rect">
            <a:avLst/>
          </a:prstGeom>
          <a:noFill/>
        </p:spPr>
        <p:txBody>
          <a:bodyPr wrap="square" lIns="0" rIns="0" tIns="0" bIns="0" anchor="t">
            <a:spAutoFit/>
          </a:bodyPr>
          <a:lstStyle/>
          <a:p>
            <a:pPr algn="l"/>
            <a:r>
              <a:rPr sz="1300" b="1" i="0">
                <a:solidFill>
                  <a:srgbClr val="FFFFFF"/>
                </a:solidFill>
                <a:latin typeface="Calibri"/>
              </a:rPr>
              <a:t>Test-set generator</a:t>
            </a:r>
          </a:p>
          <a:p>
            <a:pPr algn="l"/>
            <a:r>
              <a:rPr sz="1100" b="0" i="0">
                <a:solidFill>
                  <a:srgbClr val="9CC4FF"/>
                </a:solidFill>
                <a:latin typeface="Calibri"/>
              </a:rPr>
              <a:t>typed questions + exact gold evidence, 5 quality filters</a:t>
            </a:r>
          </a:p>
        </p:txBody>
      </p:sp>
      <p:cxnSp>
        <p:nvCxnSpPr>
          <p:cNvPr id="34" name="Connector 33"/>
          <p:cNvCxnSpPr/>
          <p:nvPr/>
        </p:nvCxnSpPr>
        <p:spPr>
          <a:xfrm>
            <a:off x="914400" y="3922776"/>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520" y="3538728"/>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20" y="3538728"/>
            <a:ext cx="384048" cy="384048"/>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37" name="TextBox 36"/>
          <p:cNvSpPr txBox="1"/>
          <p:nvPr/>
        </p:nvSpPr>
        <p:spPr>
          <a:xfrm>
            <a:off x="1325880" y="3520440"/>
            <a:ext cx="4389120" cy="502920"/>
          </a:xfrm>
          <a:prstGeom prst="rect">
            <a:avLst/>
          </a:prstGeom>
          <a:noFill/>
        </p:spPr>
        <p:txBody>
          <a:bodyPr wrap="square" lIns="0" rIns="0" tIns="0" bIns="0" anchor="t">
            <a:spAutoFit/>
          </a:bodyPr>
          <a:lstStyle/>
          <a:p>
            <a:pPr algn="l"/>
            <a:r>
              <a:rPr sz="1300" b="1" i="0">
                <a:solidFill>
                  <a:srgbClr val="FFFFFF"/>
                </a:solidFill>
                <a:latin typeface="Calibri"/>
              </a:rPr>
              <a:t>RAG under test</a:t>
            </a:r>
          </a:p>
          <a:p>
            <a:pPr algn="l"/>
            <a:r>
              <a:rPr sz="1100" b="0" i="0">
                <a:solidFill>
                  <a:srgbClr val="9CC4FF"/>
                </a:solidFill>
                <a:latin typeface="Calibri"/>
              </a:rPr>
              <a:t>top-50 ranked retrieval (dense / hybrid / rerank) → answer</a:t>
            </a:r>
          </a:p>
        </p:txBody>
      </p:sp>
      <p:cxnSp>
        <p:nvCxnSpPr>
          <p:cNvPr id="38" name="Connector 37"/>
          <p:cNvCxnSpPr/>
          <p:nvPr/>
        </p:nvCxnSpPr>
        <p:spPr>
          <a:xfrm>
            <a:off x="914400" y="4526279"/>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234440" y="4087368"/>
            <a:ext cx="4526280" cy="512064"/>
          </a:xfrm>
          <a:prstGeom prst="roundRect">
            <a:avLst>
              <a:gd name="adj" fmla="val 8000"/>
            </a:avLst>
          </a:prstGeom>
          <a:solidFill>
            <a:srgbClr val="12307F"/>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1520" y="4142231"/>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4142231"/>
            <a:ext cx="384048" cy="384048"/>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42" name="TextBox 41"/>
          <p:cNvSpPr txBox="1"/>
          <p:nvPr/>
        </p:nvSpPr>
        <p:spPr>
          <a:xfrm>
            <a:off x="1325880" y="4123944"/>
            <a:ext cx="4389120" cy="502920"/>
          </a:xfrm>
          <a:prstGeom prst="rect">
            <a:avLst/>
          </a:prstGeom>
          <a:noFill/>
        </p:spPr>
        <p:txBody>
          <a:bodyPr wrap="square" lIns="0" rIns="0" tIns="0" bIns="0" anchor="t">
            <a:spAutoFit/>
          </a:bodyPr>
          <a:lstStyle/>
          <a:p>
            <a:pPr algn="l"/>
            <a:r>
              <a:rPr sz="1300" b="1" i="0">
                <a:solidFill>
                  <a:srgbClr val="FFFFFF"/>
                </a:solidFill>
                <a:latin typeface="Calibri"/>
              </a:rPr>
              <a:t>3-tier diagnostic cascade</a:t>
            </a:r>
          </a:p>
          <a:p>
            <a:pPr algn="l"/>
            <a:r>
              <a:rPr sz="1100" b="0" i="0">
                <a:solidFill>
                  <a:srgbClr val="9CC4FF"/>
                </a:solidFill>
                <a:latin typeface="Calibri"/>
              </a:rPr>
              <a:t>T1 local checks · T2 grounding + judge · T3 counterfactual</a:t>
            </a:r>
          </a:p>
        </p:txBody>
      </p:sp>
      <p:cxnSp>
        <p:nvCxnSpPr>
          <p:cNvPr id="43" name="Connector 42"/>
          <p:cNvCxnSpPr/>
          <p:nvPr/>
        </p:nvCxnSpPr>
        <p:spPr>
          <a:xfrm>
            <a:off x="914400" y="5129783"/>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31520" y="4745736"/>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31520" y="4745736"/>
            <a:ext cx="384048" cy="384048"/>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46" name="TextBox 45"/>
          <p:cNvSpPr txBox="1"/>
          <p:nvPr/>
        </p:nvSpPr>
        <p:spPr>
          <a:xfrm>
            <a:off x="1325880" y="4727448"/>
            <a:ext cx="4389120" cy="502920"/>
          </a:xfrm>
          <a:prstGeom prst="rect">
            <a:avLst/>
          </a:prstGeom>
          <a:noFill/>
        </p:spPr>
        <p:txBody>
          <a:bodyPr wrap="square" lIns="0" rIns="0" tIns="0" bIns="0" anchor="t">
            <a:spAutoFit/>
          </a:bodyPr>
          <a:lstStyle/>
          <a:p>
            <a:pPr algn="l"/>
            <a:r>
              <a:rPr sz="1300" b="1" i="0">
                <a:solidFill>
                  <a:srgbClr val="FFFFFF"/>
                </a:solidFill>
                <a:latin typeface="Calibri"/>
              </a:rPr>
              <a:t>Weighted consensus</a:t>
            </a:r>
          </a:p>
          <a:p>
            <a:pPr algn="l"/>
            <a:r>
              <a:rPr sz="1100" b="0" i="0">
                <a:solidFill>
                  <a:srgbClr val="9CC4FF"/>
                </a:solidFill>
                <a:latin typeface="Calibri"/>
              </a:rPr>
              <a:t>root cause + sub-cause + confidence + review flag</a:t>
            </a:r>
          </a:p>
        </p:txBody>
      </p:sp>
      <p:sp>
        <p:nvSpPr>
          <p:cNvPr id="47" name="Oval 46"/>
          <p:cNvSpPr/>
          <p:nvPr/>
        </p:nvSpPr>
        <p:spPr>
          <a:xfrm>
            <a:off x="731520" y="534924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31520" y="5349240"/>
            <a:ext cx="384048" cy="384048"/>
          </a:xfrm>
          <a:prstGeom prst="rect">
            <a:avLst/>
          </a:prstGeom>
          <a:noFill/>
        </p:spPr>
        <p:txBody>
          <a:bodyPr wrap="square" lIns="0" rIns="0" tIns="0" bIns="0" anchor="ctr">
            <a:spAutoFit/>
          </a:bodyPr>
          <a:lstStyle/>
          <a:p>
            <a:pPr algn="ctr"/>
            <a:r>
              <a:rPr sz="1200" b="1" i="0">
                <a:solidFill>
                  <a:srgbClr val="FFFFFF"/>
                </a:solidFill>
                <a:latin typeface="Arial"/>
              </a:rPr>
              <a:t>6</a:t>
            </a:r>
          </a:p>
        </p:txBody>
      </p:sp>
      <p:sp>
        <p:nvSpPr>
          <p:cNvPr id="49" name="TextBox 48"/>
          <p:cNvSpPr txBox="1"/>
          <p:nvPr/>
        </p:nvSpPr>
        <p:spPr>
          <a:xfrm>
            <a:off x="1325880" y="5330952"/>
            <a:ext cx="4389120" cy="502920"/>
          </a:xfrm>
          <a:prstGeom prst="rect">
            <a:avLst/>
          </a:prstGeom>
          <a:noFill/>
        </p:spPr>
        <p:txBody>
          <a:bodyPr wrap="square" lIns="0" rIns="0" tIns="0" bIns="0" anchor="t">
            <a:spAutoFit/>
          </a:bodyPr>
          <a:lstStyle/>
          <a:p>
            <a:pPr algn="l"/>
            <a:r>
              <a:rPr sz="1300" b="1" i="0">
                <a:solidFill>
                  <a:srgbClr val="FFFFFF"/>
                </a:solidFill>
                <a:latin typeface="Calibri"/>
              </a:rPr>
              <a:t>Prescribe &amp; re-test</a:t>
            </a:r>
          </a:p>
          <a:p>
            <a:pPr algn="l"/>
            <a:r>
              <a:rPr sz="1100" b="0" i="0">
                <a:solidFill>
                  <a:srgbClr val="9CC4FF"/>
                </a:solidFill>
                <a:latin typeface="Calibri"/>
              </a:rPr>
              <a:t>config patch → re-run failures → before / after diff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USER EXPERIENCE &amp; DESIGN</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I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I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INTERFACE</a:t>
            </a:r>
            <a:endParaRPr lang="en-US" sz="1500" dirty="0"/>
          </a:p>
        </p:txBody>
      </p:sp>
      <p:sp>
        <p:nvSpPr>
          <p:cNvPr id="6" name="UI body"/>
          <p:cNvSpPr txBox="1"/>
          <p:nvPr/>
        </p:nvSpPr>
        <p:spPr>
          <a:xfrm>
            <a:off x="731520" y="2286000"/>
            <a:ext cx="3108960" cy="2514600"/>
          </a:xfrm>
          <a:prstGeom prst="rect">
            <a:avLst/>
          </a:prstGeom>
          <a:noFill/>
          <a:ln/>
        </p:spPr>
        <p:txBody>
          <a:bodyPr wrap="square" lIns="0" tIns="0" rIns="0" bIns="0" rtlCol="0" anchor="t"/>
          <a:lstStyle/>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Overview: </a:t>
            </a:r>
            <a:r>
              <a:rPr lang="en-US" sz="1250" dirty="0">
                <a:solidFill>
                  <a:srgbClr val="FFFFFF"/>
                </a:solidFill>
                <a:latin typeface="Calibri" pitchFamily="34" charset="0"/>
                <a:ea typeface="Calibri" pitchFamily="34" charset="-122"/>
                <a:cs typeface="Calibri" pitchFamily="34" charset="-120"/>
              </a:rPr>
              <a:t>4 scorecards with 95% CIs, root-cause mix, LLM cost</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Autopsy: </a:t>
            </a:r>
            <a:r>
              <a:rPr lang="en-US" sz="1250" dirty="0">
                <a:solidFill>
                  <a:srgbClr val="FFFFFF"/>
                </a:solidFill>
                <a:latin typeface="Calibri" pitchFamily="34" charset="0"/>
                <a:ea typeface="Calibri" pitchFamily="34" charset="-122"/>
                <a:cs typeface="Calibri" pitchFamily="34" charset="-120"/>
              </a:rPr>
              <a:t>answer sentences green / red, ranked chunks with gold outlined</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Tabs: </a:t>
            </a:r>
            <a:r>
              <a:rPr lang="en-US" sz="1250" dirty="0">
                <a:solidFill>
                  <a:srgbClr val="FFFFFF"/>
                </a:solidFill>
                <a:latin typeface="Calibri" pitchFamily="34" charset="0"/>
                <a:ea typeface="Calibri" pitchFamily="34" charset="-122"/>
                <a:cs typeface="Calibri" pitchFamily="34" charset="-120"/>
              </a:rPr>
              <a:t>evidence · lens votes · counterfactual proof</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Colour-coded causes, </a:t>
            </a:r>
            <a:r>
              <a:rPr lang="en-US" sz="1250" dirty="0">
                <a:solidFill>
                  <a:srgbClr val="FFFFFF"/>
                </a:solidFill>
                <a:latin typeface="Calibri" pitchFamily="34" charset="0"/>
                <a:ea typeface="Calibri" pitchFamily="34" charset="-122"/>
                <a:cs typeface="Calibri" pitchFamily="34" charset="-120"/>
              </a:rPr>
              <a:t>dark &amp; light themes</a:t>
            </a:r>
            <a:endParaRPr lang="en-US" sz="1400" dirty="0"/>
          </a:p>
        </p:txBody>
      </p:sp>
      <p:sp>
        <p:nvSpPr>
          <p:cNvPr id="7" name="Flow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Flow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FLOW</a:t>
            </a:r>
            <a:endParaRPr lang="en-US" sz="1500" dirty="0"/>
          </a:p>
        </p:txBody>
      </p:sp>
      <p:sp>
        <p:nvSpPr>
          <p:cNvPr id="9" name="Flow dot 1"/>
          <p:cNvSpPr/>
          <p:nvPr/>
        </p:nvSpPr>
        <p:spPr>
          <a:xfrm>
            <a:off x="4544568" y="2331720"/>
            <a:ext cx="502920" cy="502920"/>
          </a:xfrm>
          <a:prstGeom prst="ellipse">
            <a:avLst/>
          </a:prstGeom>
          <a:solidFill>
            <a:schemeClr val="accent1"/>
          </a:solidFill>
          <a:ln w="12700">
            <a:solidFill>
              <a:srgbClr val="FFFFFF"/>
            </a:solidFill>
            <a:prstDash val="solid"/>
          </a:ln>
        </p:spPr>
      </p:sp>
      <p:sp>
        <p:nvSpPr>
          <p:cNvPr id="10" name="Text 8"/>
          <p:cNvSpPr txBox="1"/>
          <p:nvPr/>
        </p:nvSpPr>
        <p:spPr>
          <a:xfrm>
            <a:off x="4544568" y="23317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txBox="1"/>
          <p:nvPr/>
        </p:nvSpPr>
        <p:spPr>
          <a:xfrm>
            <a:off x="5212080" y="228600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Load your documents or try the demo corpus</a:t>
            </a:r>
            <a:endParaRPr lang="en-US" sz="1400" dirty="0"/>
          </a:p>
        </p:txBody>
      </p:sp>
      <p:sp>
        <p:nvSpPr>
          <p:cNvPr id="12" name="Flow dot 2"/>
          <p:cNvSpPr/>
          <p:nvPr/>
        </p:nvSpPr>
        <p:spPr>
          <a:xfrm>
            <a:off x="4544568" y="3520440"/>
            <a:ext cx="502920" cy="502920"/>
          </a:xfrm>
          <a:prstGeom prst="ellipse">
            <a:avLst/>
          </a:prstGeom>
          <a:solidFill>
            <a:schemeClr val="accent1"/>
          </a:solidFill>
          <a:ln w="12700">
            <a:solidFill>
              <a:srgbClr val="FFFFFF"/>
            </a:solidFill>
            <a:prstDash val="solid"/>
          </a:ln>
        </p:spPr>
      </p:sp>
      <p:sp>
        <p:nvSpPr>
          <p:cNvPr id="13" name="Text 11"/>
          <p:cNvSpPr txBox="1"/>
          <p:nvPr/>
        </p:nvSpPr>
        <p:spPr>
          <a:xfrm>
            <a:off x="4544568" y="35204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txBox="1"/>
          <p:nvPr/>
        </p:nvSpPr>
        <p:spPr>
          <a:xfrm>
            <a:off x="5212080" y="347472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Run evaluation: every failure gets a root cause</a:t>
            </a:r>
            <a:endParaRPr lang="en-US" sz="1400" dirty="0"/>
          </a:p>
        </p:txBody>
      </p:sp>
      <p:sp>
        <p:nvSpPr>
          <p:cNvPr id="15" name="Flow dot 3"/>
          <p:cNvSpPr/>
          <p:nvPr/>
        </p:nvSpPr>
        <p:spPr>
          <a:xfrm>
            <a:off x="4544568" y="4709160"/>
            <a:ext cx="502920" cy="502920"/>
          </a:xfrm>
          <a:prstGeom prst="ellipse">
            <a:avLst/>
          </a:prstGeom>
          <a:solidFill>
            <a:schemeClr val="accent1"/>
          </a:solidFill>
          <a:ln w="12700">
            <a:solidFill>
              <a:srgbClr val="FFFFFF"/>
            </a:solidFill>
            <a:prstDash val="solid"/>
          </a:ln>
        </p:spPr>
      </p:sp>
      <p:sp>
        <p:nvSpPr>
          <p:cNvPr id="16" name="Text 14"/>
          <p:cNvSpPr txBox="1"/>
          <p:nvPr/>
        </p:nvSpPr>
        <p:spPr>
          <a:xfrm>
            <a:off x="4544568" y="47091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5212080" y="466344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Apply the prescribed fix and compare before vs after</a:t>
            </a:r>
            <a:endParaRPr lang="en-US" sz="1400" dirty="0"/>
          </a:p>
        </p:txBody>
      </p:sp>
      <p:sp>
        <p:nvSpPr>
          <p:cNvPr id="18" name="Goal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9" name="Goal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DESIGN GOAL</a:t>
            </a:r>
            <a:endParaRPr lang="en-US" sz="1500" dirty="0"/>
          </a:p>
        </p:txBody>
      </p:sp>
      <p:sp>
        <p:nvSpPr>
          <p:cNvPr id="20" name="Goal body"/>
          <p:cNvSpPr txBox="1"/>
          <p:nvPr/>
        </p:nvSpPr>
        <p:spPr>
          <a:xfrm>
            <a:off x="8348472" y="2286000"/>
            <a:ext cx="3108960" cy="146304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Any engineer sees, in under a minute, why each answer failed and exactly what to change.</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4</a:t>
            </a:fld>
            <a:endParaRPr lang="en-US"/>
          </a:p>
        </p:txBody>
      </p:sp>
      <p:pic>
        <p:nvPicPr>
          <p:cNvPr id="26" name="Picture 25" descr="dash_overview.png"/>
          <p:cNvPicPr>
            <a:picLocks noChangeAspect="1"/>
          </p:cNvPicPr>
          <p:nvPr/>
        </p:nvPicPr>
        <p:blipFill>
          <a:blip r:embed="rId3"/>
          <a:stretch>
            <a:fillRect/>
          </a:stretch>
        </p:blipFill>
        <p:spPr>
          <a:xfrm>
            <a:off x="731520" y="4892040"/>
            <a:ext cx="3108960" cy="1014730"/>
          </a:xfrm>
          <a:prstGeom prst="rect">
            <a:avLst/>
          </a:prstGeom>
        </p:spPr>
      </p:pic>
      <p:pic>
        <p:nvPicPr>
          <p:cNvPr id="27" name="Picture 26" descr="dash_autopsy.png"/>
          <p:cNvPicPr>
            <a:picLocks noChangeAspect="1"/>
          </p:cNvPicPr>
          <p:nvPr/>
        </p:nvPicPr>
        <p:blipFill>
          <a:blip r:embed="rId4"/>
          <a:stretch>
            <a:fillRect/>
          </a:stretch>
        </p:blipFill>
        <p:spPr>
          <a:xfrm>
            <a:off x="8348472" y="3840480"/>
            <a:ext cx="3108960" cy="18295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FEASIBILITY AND VIABILITY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Technical Feasibility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Technical Feasibility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FEASIBILITY</a:t>
            </a:r>
            <a:endParaRPr lang="en-US" sz="1500" dirty="0"/>
          </a:p>
        </p:txBody>
      </p:sp>
      <p:sp>
        <p:nvSpPr>
          <p:cNvPr id="6" name="Technical Feasibility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Working prototype, </a:t>
            </a:r>
            <a:r>
              <a:rPr lang="en-US" sz="1300" dirty="0">
                <a:solidFill>
                  <a:srgbClr val="FFFFFF"/>
                </a:solidFill>
                <a:latin typeface="Calibri" pitchFamily="34" charset="0"/>
                <a:ea typeface="Calibri" pitchFamily="34" charset="-122"/>
                <a:cs typeface="Calibri" pitchFamily="34" charset="-120"/>
              </a:rPr>
              <a:t>end to end: ingest → test set → diagnosis → verified fix</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Runs on a CPU laptop: </a:t>
            </a:r>
            <a:r>
              <a:rPr lang="en-US" sz="1300" dirty="0">
                <a:solidFill>
                  <a:srgbClr val="FFFFFF"/>
                </a:solidFill>
                <a:latin typeface="Calibri" pitchFamily="34" charset="0"/>
                <a:ea typeface="Calibri" pitchFamily="34" charset="-122"/>
                <a:cs typeface="Calibri" pitchFamily="34" charset="-120"/>
              </a:rPr>
              <a:t>16 GB RAM, local models &lt; 2 GB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Modular: </a:t>
            </a:r>
            <a:r>
              <a:rPr lang="en-US" sz="1300" dirty="0">
                <a:solidFill>
                  <a:srgbClr val="FFFFFF"/>
                </a:solidFill>
                <a:latin typeface="Calibri" pitchFamily="34" charset="0"/>
                <a:ea typeface="Calibri" pitchFamily="34" charset="-122"/>
                <a:cs typeface="Calibri" pitchFamily="34" charset="-120"/>
              </a:rPr>
              <a:t>a new check is one file; swap in any OpenAI-compatible LLM</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24 unit tests, </a:t>
            </a:r>
            <a:r>
              <a:rPr lang="en-US" sz="1300" dirty="0">
                <a:solidFill>
                  <a:srgbClr val="FFFFFF"/>
                </a:solidFill>
                <a:latin typeface="Calibri" pitchFamily="34" charset="0"/>
                <a:ea typeface="Calibri" pitchFamily="34" charset="-122"/>
                <a:cs typeface="Calibri" pitchFamily="34" charset="-120"/>
              </a:rPr>
              <a:t>LLM mocked</a:t>
            </a:r>
            <a:endParaRPr lang="en-US" sz="1400" dirty="0"/>
          </a:p>
        </p:txBody>
      </p:sp>
      <p:sp>
        <p:nvSpPr>
          <p:cNvPr id="7" name="Economic Feasibility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Economic Feasibility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ECONOMIC FEASIBILITY</a:t>
            </a:r>
            <a:endParaRPr lang="en-US" sz="1500" dirty="0"/>
          </a:p>
        </p:txBody>
      </p:sp>
      <p:sp>
        <p:nvSpPr>
          <p:cNvPr id="9" name="Economic Feasibility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 prototype: </a:t>
            </a:r>
            <a:r>
              <a:rPr lang="en-US" sz="1300" dirty="0">
                <a:solidFill>
                  <a:srgbClr val="FFFFFF"/>
                </a:solidFill>
                <a:latin typeface="Calibri" pitchFamily="34" charset="0"/>
                <a:ea typeface="Calibri" pitchFamily="34" charset="-122"/>
                <a:cs typeface="Calibri" pitchFamily="34" charset="-120"/>
              </a:rPr>
              <a:t>free tiers and open models only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0.36 LLM calls per question, </a:t>
            </a:r>
            <a:r>
              <a:rPr lang="en-US" sz="1300" dirty="0">
                <a:solidFill>
                  <a:srgbClr val="FFFFFF"/>
                </a:solidFill>
                <a:latin typeface="Calibri" pitchFamily="34" charset="0"/>
                <a:ea typeface="Calibri" pitchFamily="34" charset="-122"/>
                <a:cs typeface="Calibri" pitchFamily="34" charset="-120"/>
              </a:rPr>
              <a:t>81% settled locally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Every call is disk-cached: </a:t>
            </a:r>
            <a:r>
              <a:rPr lang="en-US" sz="1300" dirty="0">
                <a:solidFill>
                  <a:srgbClr val="FFFFFF"/>
                </a:solidFill>
                <a:latin typeface="Calibri" pitchFamily="34" charset="0"/>
                <a:ea typeface="Calibri" pitchFamily="34" charset="-122"/>
                <a:cs typeface="Calibri" pitchFamily="34" charset="-120"/>
              </a:rPr>
              <a:t>re-runs are free; the full demo replays in 51 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Costs scale with questions, </a:t>
            </a:r>
            <a:r>
              <a:rPr lang="en-US" sz="1300" dirty="0">
                <a:solidFill>
                  <a:srgbClr val="FFFFFF"/>
                </a:solidFill>
                <a:latin typeface="Calibri" pitchFamily="34" charset="0"/>
                <a:ea typeface="Calibri" pitchFamily="34" charset="-122"/>
                <a:cs typeface="Calibri" pitchFamily="34" charset="-120"/>
              </a:rPr>
              <a:t>not with users</a:t>
            </a:r>
            <a:endParaRPr lang="en-US" sz="1400" dirty="0"/>
          </a:p>
        </p:txBody>
      </p:sp>
      <p:sp>
        <p:nvSpPr>
          <p:cNvPr id="10" name="Operational Viability card"/>
          <p:cNvSpPr/>
          <p:nvPr/>
        </p:nvSpPr>
        <p:spPr>
          <a:xfrm>
            <a:off x="8083296"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Operational Viability head"/>
          <p:cNvSpPr txBox="1"/>
          <p:nvPr/>
        </p:nvSpPr>
        <p:spPr>
          <a:xfrm>
            <a:off x="8357616"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OPERATIONAL VIABILITY</a:t>
            </a:r>
            <a:endParaRPr lang="en-US" sz="1500" dirty="0"/>
          </a:p>
        </p:txBody>
      </p:sp>
      <p:sp>
        <p:nvSpPr>
          <p:cNvPr id="12" name="Operational Viability body"/>
          <p:cNvSpPr txBox="1"/>
          <p:nvPr/>
        </p:nvSpPr>
        <p:spPr>
          <a:xfrm>
            <a:off x="8357616"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Self-hosted: </a:t>
            </a:r>
            <a:r>
              <a:rPr lang="en-US" sz="1300" dirty="0">
                <a:solidFill>
                  <a:srgbClr val="FFFFFF"/>
                </a:solidFill>
                <a:latin typeface="Calibri" pitchFamily="34" charset="0"/>
                <a:ea typeface="Calibri" pitchFamily="34" charset="-122"/>
                <a:cs typeface="Calibri" pitchFamily="34" charset="-120"/>
              </a:rPr>
              <a:t>documents stay local; only prompts reach the LLM API</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Risks: </a:t>
            </a:r>
            <a:r>
              <a:rPr lang="en-US" sz="1300" dirty="0">
                <a:solidFill>
                  <a:srgbClr val="FFFFFF"/>
                </a:solidFill>
                <a:latin typeface="Calibri" pitchFamily="34" charset="0"/>
                <a:ea typeface="Calibri" pitchFamily="34" charset="-122"/>
                <a:cs typeface="Calibri" pitchFamily="34" charset="-120"/>
              </a:rPr>
              <a:t>API rate limits, judge bias, imperfect generated questions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Mitigations: </a:t>
            </a:r>
            <a:r>
              <a:rPr lang="en-US" sz="1300" dirty="0">
                <a:solidFill>
                  <a:srgbClr val="FFFFFF"/>
                </a:solidFill>
                <a:latin typeface="Calibri" pitchFamily="34" charset="0"/>
                <a:ea typeface="Calibri" pitchFamily="34" charset="-122"/>
                <a:cs typeface="Calibri" pitchFamily="34" charset="-120"/>
              </a:rPr>
              <a:t>rate-limit-aware retries + cache; judge from a different model family; evidence-verified questions + human-review flags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IMPACT AND BENEFITS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Social Impact card"/>
          <p:cNvSpPr/>
          <p:nvPr/>
        </p:nvSpPr>
        <p:spPr>
          <a:xfrm>
            <a:off x="457200"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5" name="Social Impact badge"/>
          <p:cNvSpPr/>
          <p:nvPr/>
        </p:nvSpPr>
        <p:spPr>
          <a:xfrm>
            <a:off x="731520" y="1965960"/>
            <a:ext cx="548640" cy="548640"/>
          </a:xfrm>
          <a:prstGeom prst="ellipse">
            <a:avLst/>
          </a:prstGeom>
          <a:solidFill>
            <a:schemeClr val="accent1"/>
          </a:solidFill>
          <a:ln w="12700">
            <a:solidFill>
              <a:srgbClr val="FFFFFF"/>
            </a:solidFill>
            <a:prstDash val="solid"/>
          </a:ln>
        </p:spPr>
      </p:sp>
      <p:sp>
        <p:nvSpPr>
          <p:cNvPr id="6" name="Text 4"/>
          <p:cNvSpPr txBox="1"/>
          <p:nvPr/>
        </p:nvSpPr>
        <p:spPr>
          <a:xfrm>
            <a:off x="731520"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Social Impact head"/>
          <p:cNvSpPr txBox="1"/>
          <p:nvPr/>
        </p:nvSpPr>
        <p:spPr>
          <a:xfrm>
            <a:off x="1554480"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SOCIAL IMPACT</a:t>
            </a:r>
            <a:endParaRPr lang="en-US" sz="1500" dirty="0"/>
          </a:p>
        </p:txBody>
      </p:sp>
      <p:sp>
        <p:nvSpPr>
          <p:cNvPr id="8" name="Social Impact body"/>
          <p:cNvSpPr txBox="1"/>
          <p:nvPr/>
        </p:nvSpPr>
        <p:spPr>
          <a:xfrm>
            <a:off x="1554480"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Fewer confident wrong answers in high-stakes chatbots (health, legal, education, government). Abstention testing teaches systems to say “I don't know”.</a:t>
            </a:r>
            <a:endParaRPr lang="en-US" sz="1400" dirty="0"/>
          </a:p>
        </p:txBody>
      </p:sp>
      <p:sp>
        <p:nvSpPr>
          <p:cNvPr id="9" name="Environmental Impact card"/>
          <p:cNvSpPr/>
          <p:nvPr/>
        </p:nvSpPr>
        <p:spPr>
          <a:xfrm>
            <a:off x="6099048"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0" name="Environmental Impact badge"/>
          <p:cNvSpPr/>
          <p:nvPr/>
        </p:nvSpPr>
        <p:spPr>
          <a:xfrm>
            <a:off x="6373368" y="1965960"/>
            <a:ext cx="548640" cy="548640"/>
          </a:xfrm>
          <a:prstGeom prst="ellipse">
            <a:avLst/>
          </a:prstGeom>
          <a:solidFill>
            <a:schemeClr val="accent1"/>
          </a:solidFill>
          <a:ln w="12700">
            <a:solidFill>
              <a:srgbClr val="FFFFFF"/>
            </a:solidFill>
            <a:prstDash val="solid"/>
          </a:ln>
        </p:spPr>
      </p:sp>
      <p:sp>
        <p:nvSpPr>
          <p:cNvPr id="11" name="Text 9"/>
          <p:cNvSpPr txBox="1"/>
          <p:nvPr/>
        </p:nvSpPr>
        <p:spPr>
          <a:xfrm>
            <a:off x="6373368"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Environmental Impact head"/>
          <p:cNvSpPr txBox="1"/>
          <p:nvPr/>
        </p:nvSpPr>
        <p:spPr>
          <a:xfrm>
            <a:off x="7196328"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ENVIRONMENTAL IMPACT</a:t>
            </a:r>
            <a:endParaRPr lang="en-US" sz="1500" dirty="0"/>
          </a:p>
        </p:txBody>
      </p:sp>
      <p:sp>
        <p:nvSpPr>
          <p:cNvPr id="13" name="Environmental Impact body"/>
          <p:cNvSpPr txBox="1"/>
          <p:nvPr/>
        </p:nvSpPr>
        <p:spPr>
          <a:xfrm>
            <a:off x="7196328"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81% of checks run on small local models instead of large LLMs; caching removes repeated compute, so each evaluation uses less energy.</a:t>
            </a:r>
            <a:endParaRPr lang="en-US" sz="1400" dirty="0"/>
          </a:p>
        </p:txBody>
      </p:sp>
      <p:sp>
        <p:nvSpPr>
          <p:cNvPr id="14" name="Technical Impact card"/>
          <p:cNvSpPr/>
          <p:nvPr/>
        </p:nvSpPr>
        <p:spPr>
          <a:xfrm>
            <a:off x="457200"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5" name="Technical Impact badge"/>
          <p:cNvSpPr/>
          <p:nvPr/>
        </p:nvSpPr>
        <p:spPr>
          <a:xfrm>
            <a:off x="731520" y="4251960"/>
            <a:ext cx="548640" cy="548640"/>
          </a:xfrm>
          <a:prstGeom prst="ellipse">
            <a:avLst/>
          </a:prstGeom>
          <a:solidFill>
            <a:schemeClr val="accent1"/>
          </a:solidFill>
          <a:ln w="12700">
            <a:solidFill>
              <a:srgbClr val="FFFFFF"/>
            </a:solidFill>
            <a:prstDash val="solid"/>
          </a:ln>
        </p:spPr>
      </p:sp>
      <p:sp>
        <p:nvSpPr>
          <p:cNvPr id="16" name="Text 14"/>
          <p:cNvSpPr txBox="1"/>
          <p:nvPr/>
        </p:nvSpPr>
        <p:spPr>
          <a:xfrm>
            <a:off x="731520"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chnical Impact head"/>
          <p:cNvSpPr txBox="1"/>
          <p:nvPr/>
        </p:nvSpPr>
        <p:spPr>
          <a:xfrm>
            <a:off x="1554480"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IMPACT</a:t>
            </a:r>
            <a:endParaRPr lang="en-US" sz="1500" dirty="0"/>
          </a:p>
        </p:txBody>
      </p:sp>
      <p:sp>
        <p:nvSpPr>
          <p:cNvPr id="18" name="Technical Impact body"/>
          <p:cNvSpPr txBox="1"/>
          <p:nvPr/>
        </p:nvSpPr>
        <p:spPr>
          <a:xfrm>
            <a:off x="1554480"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Turns RAG tuning into diagnosis. On our demo the prescribed fix repaired 10 of 12 failures and broke none (accuracy 0 → 1.0 on the failed set).</a:t>
            </a:r>
            <a:endParaRPr lang="en-US" sz="1400" dirty="0"/>
          </a:p>
        </p:txBody>
      </p:sp>
      <p:sp>
        <p:nvSpPr>
          <p:cNvPr id="19" name="Educational Impact card"/>
          <p:cNvSpPr/>
          <p:nvPr/>
        </p:nvSpPr>
        <p:spPr>
          <a:xfrm>
            <a:off x="6099048"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20" name="Educational Impact badge"/>
          <p:cNvSpPr/>
          <p:nvPr/>
        </p:nvSpPr>
        <p:spPr>
          <a:xfrm>
            <a:off x="6373368" y="4251960"/>
            <a:ext cx="548640" cy="548640"/>
          </a:xfrm>
          <a:prstGeom prst="ellipse">
            <a:avLst/>
          </a:prstGeom>
          <a:solidFill>
            <a:schemeClr val="accent1"/>
          </a:solidFill>
          <a:ln w="12700">
            <a:solidFill>
              <a:srgbClr val="FFFFFF"/>
            </a:solidFill>
            <a:prstDash val="solid"/>
          </a:ln>
        </p:spPr>
      </p:sp>
      <p:sp>
        <p:nvSpPr>
          <p:cNvPr id="21" name="Text 19"/>
          <p:cNvSpPr txBox="1"/>
          <p:nvPr/>
        </p:nvSpPr>
        <p:spPr>
          <a:xfrm>
            <a:off x="6373368"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Educational Impact head"/>
          <p:cNvSpPr txBox="1"/>
          <p:nvPr/>
        </p:nvSpPr>
        <p:spPr>
          <a:xfrm>
            <a:off x="7196328"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EDUCATIONAL IMPACT</a:t>
            </a:r>
            <a:endParaRPr lang="en-US" sz="1500" dirty="0"/>
          </a:p>
        </p:txBody>
      </p:sp>
      <p:sp>
        <p:nvSpPr>
          <p:cNvPr id="23" name="Educational Impact body"/>
          <p:cNvSpPr txBox="1"/>
          <p:nvPr/>
        </p:nvSpPr>
        <p:spPr>
          <a:xfrm>
            <a:off x="7196328"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Makes RAG failure modes visible and explainable: where retrieval or generation breaks, shown on real evidence. No black-box framework.</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BUSINESS MODEL &amp; SUSTAINABILITY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sers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sers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TARGET USERS</a:t>
            </a:r>
            <a:endParaRPr lang="en-US" sz="1500" dirty="0"/>
          </a:p>
        </p:txBody>
      </p:sp>
      <p:sp>
        <p:nvSpPr>
          <p:cNvPr id="6" name="Users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AI / ML teams </a:t>
            </a:r>
            <a:r>
              <a:rPr lang="en-US" sz="1300" dirty="0">
                <a:solidFill>
                  <a:srgbClr val="FFFFFF"/>
                </a:solidFill>
                <a:latin typeface="Calibri" pitchFamily="34" charset="0"/>
                <a:ea typeface="Calibri" pitchFamily="34" charset="-122"/>
                <a:cs typeface="Calibri" pitchFamily="34" charset="-120"/>
              </a:rPr>
              <a:t>shipping RAG chatbots and copilots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Enterprises </a:t>
            </a:r>
            <a:r>
              <a:rPr lang="en-US" sz="1300" dirty="0">
                <a:solidFill>
                  <a:srgbClr val="FFFFFF"/>
                </a:solidFill>
                <a:latin typeface="Calibri" pitchFamily="34" charset="0"/>
                <a:ea typeface="Calibri" pitchFamily="34" charset="-122"/>
                <a:cs typeface="Calibri" pitchFamily="34" charset="-120"/>
              </a:rPr>
              <a:t>with internal knowledge assistants (HR, support, legal)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Universities &amp; researchers </a:t>
            </a:r>
            <a:r>
              <a:rPr lang="en-US" sz="1300" dirty="0">
                <a:solidFill>
                  <a:srgbClr val="FFFFFF"/>
                </a:solidFill>
                <a:latin typeface="Calibri" pitchFamily="34" charset="0"/>
                <a:ea typeface="Calibri" pitchFamily="34" charset="-122"/>
                <a:cs typeface="Calibri" pitchFamily="34" charset="-120"/>
              </a:rPr>
              <a:t>evaluating LLM systems</a:t>
            </a:r>
            <a:endParaRPr lang="en-US" sz="1400" dirty="0"/>
          </a:p>
        </p:txBody>
      </p:sp>
      <p:sp>
        <p:nvSpPr>
          <p:cNvPr id="7" name="Revenue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Rev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REVENUE &amp; COST MODEL</a:t>
            </a:r>
            <a:endParaRPr lang="en-US" sz="1500" dirty="0"/>
          </a:p>
        </p:txBody>
      </p:sp>
      <p:sp>
        <p:nvSpPr>
          <p:cNvPr id="9" name="Rev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Open core: </a:t>
            </a:r>
            <a:r>
              <a:rPr lang="en-US" sz="1300" dirty="0">
                <a:solidFill>
                  <a:srgbClr val="FFFFFF"/>
                </a:solidFill>
                <a:latin typeface="Calibri" pitchFamily="34" charset="0"/>
                <a:ea typeface="Calibri" pitchFamily="34" charset="-122"/>
                <a:cs typeface="Calibri" pitchFamily="34" charset="-120"/>
              </a:rPr>
              <a:t>free self-hosted CLI + dashboard</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 SaaS: </a:t>
            </a:r>
            <a:r>
              <a:rPr lang="en-US" sz="1300" dirty="0">
                <a:solidFill>
                  <a:srgbClr val="FFFFFF"/>
                </a:solidFill>
                <a:latin typeface="Calibri" pitchFamily="34" charset="0"/>
                <a:ea typeface="Calibri" pitchFamily="34" charset="-122"/>
                <a:cs typeface="Calibri" pitchFamily="34" charset="-120"/>
              </a:rPr>
              <a:t>hosted runs, CI regression gates, team dashboards (per seat / per evaluation)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 </a:t>
            </a:r>
            <a:r>
              <a:rPr lang="en-US" sz="1300" dirty="0">
                <a:solidFill>
                  <a:srgbClr val="FFFFFF"/>
                </a:solidFill>
                <a:latin typeface="Calibri" pitchFamily="34" charset="0"/>
                <a:ea typeface="Calibri" pitchFamily="34" charset="-122"/>
                <a:cs typeface="Calibri" pitchFamily="34" charset="-120"/>
              </a:rPr>
              <a:t>on-prem, custom lenses, SSO</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Main cost is LLM calls, </a:t>
            </a:r>
            <a:r>
              <a:rPr lang="en-US" sz="1300" dirty="0">
                <a:solidFill>
                  <a:srgbClr val="FFFFFF"/>
                </a:solidFill>
                <a:latin typeface="Calibri" pitchFamily="34" charset="0"/>
                <a:ea typeface="Calibri" pitchFamily="34" charset="-122"/>
                <a:cs typeface="Calibri" pitchFamily="34" charset="-120"/>
              </a:rPr>
              <a:t>kept low by the cascade + cache</a:t>
            </a:r>
            <a:endParaRPr lang="en-US" sz="1400" dirty="0"/>
          </a:p>
        </p:txBody>
      </p:sp>
      <p:sp>
        <p:nvSpPr>
          <p:cNvPr id="10" name="Sustain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Sus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SUSTAINABILITY</a:t>
            </a:r>
            <a:endParaRPr lang="en-US" sz="1500" dirty="0"/>
          </a:p>
        </p:txBody>
      </p:sp>
      <p:sp>
        <p:nvSpPr>
          <p:cNvPr id="12" name="Sus body"/>
          <p:cNvSpPr txBox="1"/>
          <p:nvPr/>
        </p:nvSpPr>
        <p:spPr>
          <a:xfrm>
            <a:off x="8348472"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CI / CD gate: </a:t>
            </a:r>
            <a:r>
              <a:rPr lang="en-US" sz="1300" dirty="0">
                <a:solidFill>
                  <a:srgbClr val="FFFFFF"/>
                </a:solidFill>
                <a:latin typeface="Calibri" pitchFamily="34" charset="0"/>
                <a:ea typeface="Calibri" pitchFamily="34" charset="-122"/>
                <a:cs typeface="Calibri" pitchFamily="34" charset="-120"/>
              </a:rPr>
              <a:t>every RAG change gets an autopsy before deploy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Adapters </a:t>
            </a:r>
            <a:r>
              <a:rPr lang="en-US" sz="1300" dirty="0">
                <a:solidFill>
                  <a:srgbClr val="FFFFFF"/>
                </a:solidFill>
                <a:latin typeface="Calibri" pitchFamily="34" charset="0"/>
                <a:ea typeface="Calibri" pitchFamily="34" charset="-122"/>
                <a:cs typeface="Calibri" pitchFamily="34" charset="-120"/>
              </a:rPr>
              <a:t>for any RAG endpoint (question in → answer + contexts out)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Community lenses </a:t>
            </a:r>
            <a:r>
              <a:rPr lang="en-US" sz="1300" dirty="0">
                <a:solidFill>
                  <a:srgbClr val="FFFFFF"/>
                </a:solidFill>
                <a:latin typeface="Calibri" pitchFamily="34" charset="0"/>
                <a:ea typeface="Calibri" pitchFamily="34" charset="-122"/>
                <a:cs typeface="Calibri" pitchFamily="34" charset="-120"/>
              </a:rPr>
              <a:t>and consensus weights learned from user labels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RESEARCH AND REFERENCES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References card"/>
          <p:cNvSpPr/>
          <p:nvPr/>
        </p:nvSpPr>
        <p:spPr>
          <a:xfrm>
            <a:off x="457200" y="1691640"/>
            <a:ext cx="11274552" cy="4434840"/>
          </a:xfrm>
          <a:prstGeom prst="roundRect">
            <a:avLst>
              <a:gd name="adj" fmla="val 2474"/>
            </a:avLst>
          </a:prstGeom>
          <a:solidFill>
            <a:srgbClr val="0B1A4A">
              <a:alpha val="75000"/>
            </a:srgbClr>
          </a:solidFill>
          <a:ln w="12700">
            <a:solidFill>
              <a:srgbClr val="1E5BFF"/>
            </a:solidFill>
            <a:prstDash val="solid"/>
          </a:ln>
        </p:spPr>
      </p:sp>
      <p:sp>
        <p:nvSpPr>
          <p:cNvPr id="5" name="Ref head"/>
          <p:cNvSpPr txBox="1"/>
          <p:nvPr/>
        </p:nvSpPr>
        <p:spPr>
          <a:xfrm>
            <a:off x="731520" y="1874520"/>
            <a:ext cx="105156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KEY TECH &amp; RESEARCH SOURCES</a:t>
            </a:r>
            <a:endParaRPr lang="en-US" sz="1500" dirty="0"/>
          </a:p>
        </p:txBody>
      </p:sp>
      <p:sp>
        <p:nvSpPr>
          <p:cNvPr id="6" name="Ref body"/>
          <p:cNvSpPr txBox="1"/>
          <p:nvPr/>
        </p:nvSpPr>
        <p:spPr>
          <a:xfrm>
            <a:off x="731520" y="2377440"/>
            <a:ext cx="1069848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Lewis et al., 2020: </a:t>
            </a:r>
            <a:r>
              <a:rPr lang="en-US" sz="1300" dirty="0">
                <a:solidFill>
                  <a:srgbClr val="FFFFFF"/>
                </a:solidFill>
                <a:latin typeface="Calibri" pitchFamily="34" charset="0"/>
                <a:ea typeface="Calibri" pitchFamily="34" charset="-122"/>
                <a:cs typeface="Calibri" pitchFamily="34" charset="-120"/>
              </a:rPr>
              <a:t>Retrieval-Augmented Generation for Knowledge-Intensive NLP Tasks (NeurIPS)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Es et al., 2023: </a:t>
            </a:r>
            <a:r>
              <a:rPr lang="en-US" sz="1300" dirty="0">
                <a:solidFill>
                  <a:srgbClr val="FFFFFF"/>
                </a:solidFill>
                <a:latin typeface="Calibri" pitchFamily="34" charset="0"/>
                <a:ea typeface="Calibri" pitchFamily="34" charset="-122"/>
                <a:cs typeface="Calibri" pitchFamily="34" charset="-120"/>
              </a:rPr>
              <a:t>RAGAS: Automated Evaluation of Retrieval Augmented Generation</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Tang, Laban &amp; Durrett, 2024: </a:t>
            </a:r>
            <a:r>
              <a:rPr lang="en-US" sz="1300" dirty="0">
                <a:solidFill>
                  <a:srgbClr val="FFFFFF"/>
                </a:solidFill>
                <a:latin typeface="Calibri" pitchFamily="34" charset="0"/>
                <a:ea typeface="Calibri" pitchFamily="34" charset="-122"/>
                <a:cs typeface="Calibri" pitchFamily="34" charset="-120"/>
              </a:rPr>
              <a:t>MiniCheck: Efficient Fact-Checking of LLMs on Grounding Documents (EMNLP)</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Kovács &amp; Recski, 2025: </a:t>
            </a:r>
            <a:r>
              <a:rPr lang="en-US" sz="1300" dirty="0">
                <a:solidFill>
                  <a:srgbClr val="FFFFFF"/>
                </a:solidFill>
                <a:latin typeface="Calibri" pitchFamily="34" charset="0"/>
                <a:ea typeface="Calibri" pitchFamily="34" charset="-122"/>
                <a:cs typeface="Calibri" pitchFamily="34" charset="-120"/>
              </a:rPr>
              <a:t>LettuceDetect: A Hallucination Detection Framework for RAG Applications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Vectara: </a:t>
            </a:r>
            <a:r>
              <a:rPr lang="en-US" sz="1300" dirty="0">
                <a:solidFill>
                  <a:srgbClr val="FFFFFF"/>
                </a:solidFill>
                <a:latin typeface="Calibri" pitchFamily="34" charset="0"/>
                <a:ea typeface="Calibri" pitchFamily="34" charset="-122"/>
                <a:cs typeface="Calibri" pitchFamily="34" charset="-120"/>
              </a:rPr>
              <a:t>HHEM-2.1-Open hallucination evaluation model (Hugging Face)</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Xiao et al., 2023: </a:t>
            </a:r>
            <a:r>
              <a:rPr lang="en-US" sz="1300" dirty="0">
                <a:solidFill>
                  <a:srgbClr val="FFFFFF"/>
                </a:solidFill>
                <a:latin typeface="Calibri" pitchFamily="34" charset="0"/>
                <a:ea typeface="Calibri" pitchFamily="34" charset="-122"/>
                <a:cs typeface="Calibri" pitchFamily="34" charset="-120"/>
              </a:rPr>
              <a:t>C-Pack: BGE embedding and reranker models (BAAI)</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Cormack, Clarke &amp; Büttcher, 2009: </a:t>
            </a:r>
            <a:r>
              <a:rPr lang="en-US" sz="1300" dirty="0">
                <a:solidFill>
                  <a:srgbClr val="FFFFFF"/>
                </a:solidFill>
                <a:latin typeface="Calibri" pitchFamily="34" charset="0"/>
                <a:ea typeface="Calibri" pitchFamily="34" charset="-122"/>
                <a:cs typeface="Calibri" pitchFamily="34" charset="-120"/>
              </a:rPr>
              <a:t>Reciprocal Rank Fusion (SIGIR); Robertson &amp; Zaragoza, 2009: BM25</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Efron &amp; Tibshirani, 1993: </a:t>
            </a:r>
            <a:r>
              <a:rPr lang="en-US" sz="1300" dirty="0">
                <a:solidFill>
                  <a:srgbClr val="FFFFFF"/>
                </a:solidFill>
                <a:latin typeface="Calibri" pitchFamily="34" charset="0"/>
                <a:ea typeface="Calibri" pitchFamily="34" charset="-122"/>
                <a:cs typeface="Calibri" pitchFamily="34" charset="-120"/>
              </a:rPr>
              <a:t>An Introduction to the Bootstrap (confidence intervals)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Tools: </a:t>
            </a:r>
            <a:r>
              <a:rPr lang="en-US" sz="1300" dirty="0">
                <a:solidFill>
                  <a:srgbClr val="FFFFFF"/>
                </a:solidFill>
                <a:latin typeface="Calibri" pitchFamily="34" charset="0"/>
                <a:ea typeface="Calibri" pitchFamily="34" charset="-122"/>
                <a:cs typeface="Calibri" pitchFamily="34" charset="-120"/>
              </a:rPr>
              <a:t>FastAPI, ChromaDB, sentence-transformers, rank_bm25, React, Tailwind CSS, Google Gemini API, Groq API</a:t>
            </a:r>
            <a:endParaRPr lang="en-US" sz="16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YPNEXIS 26 logo"/>
          <p:cNvPicPr>
            <a:picLocks noChangeAspect="1"/>
          </p:cNvPicPr>
          <p:nvPr/>
        </p:nvPicPr>
        <p:blipFill>
          <a:blip r:embed="rId3"/>
          <a:stretch>
            <a:fillRect/>
          </a:stretch>
        </p:blipFill>
        <p:spPr>
          <a:xfrm>
            <a:off x="548640" y="1828800"/>
            <a:ext cx="4754880" cy="2163776"/>
          </a:xfrm>
          <a:prstGeom prst="rect">
            <a:avLst/>
          </a:prstGeom>
        </p:spPr>
      </p:pic>
      <p:sp>
        <p:nvSpPr>
          <p:cNvPr id="3" name="Text 0"/>
          <p:cNvSpPr txBox="1"/>
          <p:nvPr/>
        </p:nvSpPr>
        <p:spPr>
          <a:xfrm>
            <a:off x="548640" y="4297680"/>
            <a:ext cx="7315200" cy="822960"/>
          </a:xfrm>
          <a:prstGeom prst="rect">
            <a:avLst/>
          </a:prstGeom>
          <a:noFill/>
          <a:ln/>
        </p:spPr>
        <p:txBody>
          <a:bodyPr wrap="square" lIns="0" tIns="0" rIns="0" bIns="0" rtlCol="0" anchor="ctr"/>
          <a:lstStyle/>
          <a:p>
            <a:pPr marL="0" indent="0">
              <a:buNone/>
            </a:pPr>
            <a:r>
              <a:rPr lang="en-US" sz="4400" b="1" kern="0" spc="400" dirty="0">
                <a:solidFill>
                  <a:srgbClr val="FFFFFF"/>
                </a:solidFill>
                <a:latin typeface="Arial" pitchFamily="34" charset="0"/>
                <a:ea typeface="Arial" pitchFamily="34" charset="-122"/>
                <a:cs typeface="Arial" pitchFamily="34" charset="-120"/>
              </a:rPr>
              <a:t>THANK YOU</a:t>
            </a:r>
            <a:endParaRPr lang="en-US" sz="4400" dirty="0"/>
          </a:p>
        </p:txBody>
      </p:sp>
      <p:sp>
        <p:nvSpPr>
          <p:cNvPr id="4" name="Text 1"/>
          <p:cNvSpPr txBox="1"/>
          <p:nvPr/>
        </p:nvSpPr>
        <p:spPr>
          <a:xfrm>
            <a:off x="548640" y="5120640"/>
            <a:ext cx="7315200" cy="365760"/>
          </a:xfrm>
          <a:prstGeom prst="rect">
            <a:avLst/>
          </a:prstGeom>
          <a:noFill/>
          <a:ln/>
        </p:spPr>
        <p:txBody>
          <a:bodyPr wrap="square" lIns="0" tIns="0" rIns="0" bIns="0" rtlCol="0" anchor="ctr"/>
          <a:lstStyle/>
          <a:p>
            <a:pPr marL="0" indent="0">
              <a:buNone/>
            </a:pPr>
            <a:r>
              <a:rPr lang="en-US" sz="1600" dirty="0">
                <a:solidFill>
                  <a:srgbClr val="9CC4FF"/>
                </a:solidFill>
                <a:latin typeface="Calibri" pitchFamily="34" charset="0"/>
                <a:ea typeface="Calibri" pitchFamily="34" charset="-122"/>
                <a:cs typeface="Calibri" pitchFamily="34" charset="-120"/>
              </a:rPr>
              <a:t>Team Name  |  Team ID  |  krishjariwala678@gmail.com</a:t>
            </a:r>
            <a:endParaRPr lang="en-US" sz="1600" dirty="0"/>
          </a:p>
        </p:txBody>
      </p:sp>
      <p:sp>
        <p:nvSpPr>
          <p:cNvPr id="5" name="Text 2"/>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300" b="1" kern="0" spc="500" dirty="0">
                <a:solidFill>
                  <a:srgbClr val="4DA3FF"/>
                </a:solidFill>
                <a:latin typeface="Arial" pitchFamily="34" charset="0"/>
                <a:ea typeface="Arial" pitchFamily="34" charset="-122"/>
                <a:cs typeface="Arial" pitchFamily="34" charset="-120"/>
              </a:rPr>
              <a:t>CREATE / AN / IMPACT</a:t>
            </a:r>
            <a:endParaRPr lang="en-US" sz="1300" dirty="0"/>
          </a:p>
        </p:txBody>
      </p:sp>
    </p:spTree>
  </p:cSld>
  <p:clrMapOvr>
    <a:masterClrMapping/>
  </p:clrMapOvr>
</p:sld>
</file>

<file path=ppt/theme/theme1.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442</Words>
  <Application>Microsoft Office PowerPoint</Application>
  <PresentationFormat>Widescreen</PresentationFormat>
  <Paragraphs>126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Hypnexis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HYPNEXIS 26 - Official Idea Presentation Template</dc:title>
  <dc:subject>PptxGenJS Presentation</dc:subject>
  <dc:creator>PptxGenJS</dc:creator>
  <cp:lastModifiedBy>G.GIGI 2005</cp:lastModifiedBy>
  <cp:revision>1</cp:revision>
  <dcterms:created xsi:type="dcterms:W3CDTF">2026-10-24T10:35:26Z</dcterms:created>
  <dcterms:modified xsi:type="dcterms:W3CDTF">2026-10-24T16:49:17Z</dcterms:modified>
</cp:coreProperties>
</file>