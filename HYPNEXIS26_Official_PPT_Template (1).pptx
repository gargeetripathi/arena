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B27ABEB2-E2D6-8B5D-8C43-AD515931FF97}">
          <p14:sldIdLst>
            <p14:sldId id="256"/>
          </p14:sldIdLst>
        </p14:section>
        <p14:section name="Idea" id="{424F8A36-ACCB-3397-0AAB-0CB2C4908326}">
          <p14:sldIdLst>
            <p14:sldId id="257"/>
          </p14:sldIdLst>
        </p14:section>
        <p14:section name="Approach" id="{31124DFC-E20C-1ED4-B375-D41F266F42FE}">
          <p14:sldIdLst>
            <p14:sldId id="258"/>
            <p14:sldId id="259"/>
          </p14:sldIdLst>
        </p14:section>
        <p14:section name="Viability" id="{91BE2AC3-B619-7C48-B042-EB8D0232F76A}">
          <p14:sldIdLst>
            <p14:sldId id="260"/>
          </p14:sldIdLst>
        </p14:section>
        <p14:section name="Impact" id="{29995A27-38EA-056E-F972-2E7A1F9285D6}">
          <p14:sldIdLst>
            <p14:sldId id="261"/>
          </p14:sldIdLst>
        </p14:section>
        <p14:section name="Business" id="{F0599801-3B2B-D390-1AF0-755D83C156EC}">
          <p14:sldIdLst>
            <p14:sldId id="262"/>
          </p14:sldIdLst>
        </p14:section>
        <p14:section name="References" id="{15A8586F-328A-E5D8-5F10-90FA2904D36E}">
          <p14:sldIdLst>
            <p14:sldId id="263"/>
          </p14:sldIdLst>
        </p14:section>
        <p14:section name="Close" id="{01F624A0-4E19-FB90-EA64-AC0AB7BE0E6F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5588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YPNEXIS_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YPNEXIS_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1105163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6080" y="36576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300" dirty="0">
                <a:solidFill>
                  <a:srgbClr val="9C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36-HOUR HACKATHON  |  24–25 OCTOBER 2026  |  MANIPAL UNIVERSITY JAIPUR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6355080"/>
            <a:ext cx="11274552" cy="9144"/>
          </a:xfrm>
          <a:prstGeom prst="rect">
            <a:avLst/>
          </a:prstGeom>
          <a:solidFill>
            <a:srgbClr val="1E5BFF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and Communications Engineering  •  Manipal University Jaipur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YPNEXIS_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100584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MANIPAL UNIVERSITY JAIPUR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and Communications Engineering</a:t>
            </a:r>
            <a:endParaRPr lang="en-US" sz="1200" dirty="0"/>
          </a:p>
        </p:txBody>
      </p:sp>
      <p:pic>
        <p:nvPicPr>
          <p:cNvPr id="4" name="Image 0" descr="HYPNEXIS 26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120640" cy="23302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526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36-HOUR HACKATHON  •  24–25 OCTOBER 2026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892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/ INNOVATE / CREATE</a:t>
            </a:r>
            <a:endParaRPr lang="en-US" sz="1200" dirty="0"/>
          </a:p>
        </p:txBody>
      </p:sp>
      <p:sp>
        <p:nvSpPr>
          <p:cNvPr id="7" name="Team details card"/>
          <p:cNvSpPr/>
          <p:nvPr/>
        </p:nvSpPr>
        <p:spPr>
          <a:xfrm>
            <a:off x="6949440" y="1371600"/>
            <a:ext cx="4754880" cy="4480560"/>
          </a:xfrm>
          <a:prstGeom prst="roundRect">
            <a:avLst>
              <a:gd name="adj" fmla="val 2449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223760" y="15544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223760" y="180136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name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223760" y="22494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249631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HXXXX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2944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223760" y="319125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ID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223760" y="36393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223760" y="38862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of selected problem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223760" y="43342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/ DOMAIN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223760" y="458114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223760" y="50292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223760" y="527608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/ Hardware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hypnexismuj.com   |   @hypnexis.muj   |   hypnexis2026@muj.manipal.edu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/ SOLUTION TITLE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|  Team ID</a:t>
            </a:r>
            <a:endParaRPr lang="en-US" sz="1200" dirty="0"/>
          </a:p>
        </p:txBody>
      </p:sp>
      <p:sp>
        <p:nvSpPr>
          <p:cNvPr id="4" name="Problem card"/>
          <p:cNvSpPr/>
          <p:nvPr/>
        </p:nvSpPr>
        <p:spPr>
          <a:xfrm>
            <a:off x="457200" y="169164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Problem head"/>
          <p:cNvSpPr txBox="1"/>
          <p:nvPr/>
        </p:nvSpPr>
        <p:spPr>
          <a:xfrm>
            <a:off x="73152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6" name="Problem body"/>
          <p:cNvSpPr txBox="1"/>
          <p:nvPr/>
        </p:nvSpPr>
        <p:spPr>
          <a:xfrm>
            <a:off x="731520" y="22860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problem in 2–3 crisp points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 and how big is the gap?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solutions fall short</a:t>
            </a:r>
            <a:endParaRPr lang="en-US" sz="1400" dirty="0"/>
          </a:p>
        </p:txBody>
      </p:sp>
      <p:sp>
        <p:nvSpPr>
          <p:cNvPr id="7" name="Solution card"/>
          <p:cNvSpPr/>
          <p:nvPr/>
        </p:nvSpPr>
        <p:spPr>
          <a:xfrm>
            <a:off x="6245352" y="169164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Solution head"/>
          <p:cNvSpPr txBox="1"/>
          <p:nvPr/>
        </p:nvSpPr>
        <p:spPr>
          <a:xfrm>
            <a:off x="6519672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9" name="Solution body"/>
          <p:cNvSpPr txBox="1"/>
          <p:nvPr/>
        </p:nvSpPr>
        <p:spPr>
          <a:xfrm>
            <a:off x="6519672" y="22860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idea / solution / prototype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addresses the problem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and uniqueness</a:t>
            </a:r>
            <a:endParaRPr lang="en-US" sz="1400" dirty="0"/>
          </a:p>
        </p:txBody>
      </p:sp>
      <p:sp>
        <p:nvSpPr>
          <p:cNvPr id="10" name="Visual card"/>
          <p:cNvSpPr/>
          <p:nvPr/>
        </p:nvSpPr>
        <p:spPr>
          <a:xfrm>
            <a:off x="6245352" y="4617720"/>
            <a:ext cx="5486400" cy="1508760"/>
          </a:xfrm>
          <a:prstGeom prst="roundRect">
            <a:avLst>
              <a:gd name="adj" fmla="val 7273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1" name="Image placeholder text"/>
          <p:cNvSpPr txBox="1"/>
          <p:nvPr/>
        </p:nvSpPr>
        <p:spPr>
          <a:xfrm>
            <a:off x="6245352" y="4617720"/>
            <a:ext cx="54864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image / mockup / diagram here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|  Team ID</a:t>
            </a:r>
            <a:endParaRPr lang="en-US" sz="1200" dirty="0"/>
          </a:p>
        </p:txBody>
      </p:sp>
      <p:sp>
        <p:nvSpPr>
          <p:cNvPr id="4" name="Architecture card"/>
          <p:cNvSpPr/>
          <p:nvPr/>
        </p:nvSpPr>
        <p:spPr>
          <a:xfrm>
            <a:off x="457200" y="169164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Arch head"/>
          <p:cNvSpPr txBox="1"/>
          <p:nvPr/>
        </p:nvSpPr>
        <p:spPr>
          <a:xfrm>
            <a:off x="73152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6" name="Arch body"/>
          <p:cNvSpPr txBox="1"/>
          <p:nvPr/>
        </p:nvSpPr>
        <p:spPr>
          <a:xfrm>
            <a:off x="731520" y="22860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/ pipeline step 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or module step 2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and output step 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flow chart or working prototype image</a:t>
            </a:r>
            <a:endParaRPr lang="en-US" sz="1400" dirty="0"/>
          </a:p>
        </p:txBody>
      </p:sp>
      <p:sp>
        <p:nvSpPr>
          <p:cNvPr id="7" name="Tech card"/>
          <p:cNvSpPr/>
          <p:nvPr/>
        </p:nvSpPr>
        <p:spPr>
          <a:xfrm>
            <a:off x="6245352" y="1691640"/>
            <a:ext cx="5486400" cy="2148840"/>
          </a:xfrm>
          <a:prstGeom prst="roundRect">
            <a:avLst>
              <a:gd name="adj" fmla="val 5106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Tech head"/>
          <p:cNvSpPr txBox="1"/>
          <p:nvPr/>
        </p:nvSpPr>
        <p:spPr>
          <a:xfrm>
            <a:off x="6519672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TECHNOLOGIES</a:t>
            </a:r>
            <a:endParaRPr lang="en-US" sz="1500" dirty="0"/>
          </a:p>
        </p:txBody>
      </p:sp>
      <p:sp>
        <p:nvSpPr>
          <p:cNvPr id="9" name="Tech body"/>
          <p:cNvSpPr txBox="1"/>
          <p:nvPr/>
        </p:nvSpPr>
        <p:spPr>
          <a:xfrm>
            <a:off x="6519672" y="22860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/ frameworks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/ platforms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cloud and tools</a:t>
            </a:r>
            <a:endParaRPr lang="en-US" sz="1400" dirty="0"/>
          </a:p>
        </p:txBody>
      </p:sp>
      <p:sp>
        <p:nvSpPr>
          <p:cNvPr id="10" name="Unique card"/>
          <p:cNvSpPr/>
          <p:nvPr/>
        </p:nvSpPr>
        <p:spPr>
          <a:xfrm>
            <a:off x="6245352" y="402336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1" name="Unique head"/>
          <p:cNvSpPr txBox="1"/>
          <p:nvPr/>
        </p:nvSpPr>
        <p:spPr>
          <a:xfrm>
            <a:off x="6519672" y="4206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POINTS</a:t>
            </a:r>
            <a:endParaRPr lang="en-US" sz="1500" dirty="0"/>
          </a:p>
        </p:txBody>
      </p:sp>
      <p:sp>
        <p:nvSpPr>
          <p:cNvPr id="12" name="Unique body"/>
          <p:cNvSpPr txBox="1"/>
          <p:nvPr/>
        </p:nvSpPr>
        <p:spPr>
          <a:xfrm>
            <a:off x="6519672" y="46177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your approach different?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hard to copy?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 &amp; DESIGN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|  Team ID</a:t>
            </a:r>
            <a:endParaRPr lang="en-US" sz="1200" dirty="0"/>
          </a:p>
        </p:txBody>
      </p:sp>
      <p:sp>
        <p:nvSpPr>
          <p:cNvPr id="4" name="UI card"/>
          <p:cNvSpPr/>
          <p:nvPr/>
        </p:nvSpPr>
        <p:spPr>
          <a:xfrm>
            <a:off x="457200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UI head"/>
          <p:cNvSpPr txBox="1"/>
          <p:nvPr/>
        </p:nvSpPr>
        <p:spPr>
          <a:xfrm>
            <a:off x="73152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</a:t>
            </a:r>
            <a:endParaRPr lang="en-US" sz="1500" dirty="0"/>
          </a:p>
        </p:txBody>
      </p:sp>
      <p:sp>
        <p:nvSpPr>
          <p:cNvPr id="6" name="UI body"/>
          <p:cNvSpPr txBox="1"/>
          <p:nvPr/>
        </p:nvSpPr>
        <p:spPr>
          <a:xfrm>
            <a:off x="731520" y="228600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screens / interface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interactions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400" dirty="0"/>
          </a:p>
        </p:txBody>
      </p:sp>
      <p:sp>
        <p:nvSpPr>
          <p:cNvPr id="7" name="Flow card"/>
          <p:cNvSpPr/>
          <p:nvPr/>
        </p:nvSpPr>
        <p:spPr>
          <a:xfrm>
            <a:off x="4270248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Flow head"/>
          <p:cNvSpPr txBox="1"/>
          <p:nvPr/>
        </p:nvSpPr>
        <p:spPr>
          <a:xfrm>
            <a:off x="4544568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</a:t>
            </a:r>
            <a:endParaRPr lang="en-US" sz="1500" dirty="0"/>
          </a:p>
        </p:txBody>
      </p:sp>
      <p:sp>
        <p:nvSpPr>
          <p:cNvPr id="9" name="Flow dot 1"/>
          <p:cNvSpPr/>
          <p:nvPr/>
        </p:nvSpPr>
        <p:spPr>
          <a:xfrm>
            <a:off x="4544568" y="23317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456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2286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User starts</a:t>
            </a:r>
            <a:endParaRPr lang="en-US" sz="1400" dirty="0"/>
          </a:p>
        </p:txBody>
      </p:sp>
      <p:sp>
        <p:nvSpPr>
          <p:cNvPr id="12" name="Flow dot 2"/>
          <p:cNvSpPr/>
          <p:nvPr/>
        </p:nvSpPr>
        <p:spPr>
          <a:xfrm>
            <a:off x="4544568" y="3520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44568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System responds</a:t>
            </a:r>
            <a:endParaRPr lang="en-US" sz="1400" dirty="0"/>
          </a:p>
        </p:txBody>
      </p:sp>
      <p:sp>
        <p:nvSpPr>
          <p:cNvPr id="15" name="Flow dot 3"/>
          <p:cNvSpPr/>
          <p:nvPr/>
        </p:nvSpPr>
        <p:spPr>
          <a:xfrm>
            <a:off x="4544568" y="4709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44568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46634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Outcome delivered</a:t>
            </a:r>
            <a:endParaRPr lang="en-US" sz="1400" dirty="0"/>
          </a:p>
        </p:txBody>
      </p:sp>
      <p:sp>
        <p:nvSpPr>
          <p:cNvPr id="18" name="Goal card"/>
          <p:cNvSpPr/>
          <p:nvPr/>
        </p:nvSpPr>
        <p:spPr>
          <a:xfrm>
            <a:off x="8074152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9" name="Goal head"/>
          <p:cNvSpPr txBox="1"/>
          <p:nvPr/>
        </p:nvSpPr>
        <p:spPr>
          <a:xfrm>
            <a:off x="8348472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GOAL</a:t>
            </a:r>
            <a:endParaRPr lang="en-US" sz="1500" dirty="0"/>
          </a:p>
        </p:txBody>
      </p:sp>
      <p:sp>
        <p:nvSpPr>
          <p:cNvPr id="20" name="Goal body"/>
          <p:cNvSpPr txBox="1"/>
          <p:nvPr/>
        </p:nvSpPr>
        <p:spPr>
          <a:xfrm>
            <a:off x="8348472" y="22860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statement of the experience you want users to have.</a:t>
            </a:r>
            <a:endParaRPr lang="en-US" sz="1400" dirty="0"/>
          </a:p>
        </p:txBody>
      </p:sp>
      <p:sp>
        <p:nvSpPr>
          <p:cNvPr id="21" name="Wireframe placeholder"/>
          <p:cNvSpPr txBox="1"/>
          <p:nvPr/>
        </p:nvSpPr>
        <p:spPr>
          <a:xfrm>
            <a:off x="8348472" y="420624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wireframe / screenshot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|  Team ID</a:t>
            </a:r>
            <a:endParaRPr lang="en-US" sz="1200" dirty="0"/>
          </a:p>
        </p:txBody>
      </p:sp>
      <p:sp>
        <p:nvSpPr>
          <p:cNvPr id="4" name="Technical Feasibility card"/>
          <p:cNvSpPr/>
          <p:nvPr/>
        </p:nvSpPr>
        <p:spPr>
          <a:xfrm>
            <a:off x="457200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Technical Feasibility head"/>
          <p:cNvSpPr txBox="1"/>
          <p:nvPr/>
        </p:nvSpPr>
        <p:spPr>
          <a:xfrm>
            <a:off x="73152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FEASIBILITY</a:t>
            </a:r>
            <a:endParaRPr lang="en-US" sz="1500" dirty="0"/>
          </a:p>
        </p:txBody>
      </p:sp>
      <p:sp>
        <p:nvSpPr>
          <p:cNvPr id="6" name="Technical Feasibility body"/>
          <p:cNvSpPr txBox="1"/>
          <p:nvPr/>
        </p:nvSpPr>
        <p:spPr>
          <a:xfrm>
            <a:off x="731520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stack readiness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/ software needs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 and scalability</a:t>
            </a:r>
            <a:endParaRPr lang="en-US" sz="1400" dirty="0"/>
          </a:p>
        </p:txBody>
      </p:sp>
      <p:sp>
        <p:nvSpPr>
          <p:cNvPr id="7" name="Economic Feasibility card"/>
          <p:cNvSpPr/>
          <p:nvPr/>
        </p:nvSpPr>
        <p:spPr>
          <a:xfrm>
            <a:off x="4270248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Economic Feasibility head"/>
          <p:cNvSpPr txBox="1"/>
          <p:nvPr/>
        </p:nvSpPr>
        <p:spPr>
          <a:xfrm>
            <a:off x="4544568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FEASIBILITY</a:t>
            </a:r>
            <a:endParaRPr lang="en-US" sz="1500" dirty="0"/>
          </a:p>
        </p:txBody>
      </p:sp>
      <p:sp>
        <p:nvSpPr>
          <p:cNvPr id="9" name="Economic Feasibility body"/>
          <p:cNvSpPr txBox="1"/>
          <p:nvPr/>
        </p:nvSpPr>
        <p:spPr>
          <a:xfrm>
            <a:off x="4544568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cost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/ revenue sources</a:t>
            </a:r>
            <a:endParaRPr lang="en-US" sz="1400" dirty="0"/>
          </a:p>
        </p:txBody>
      </p:sp>
      <p:sp>
        <p:nvSpPr>
          <p:cNvPr id="10" name="Operational Viability card"/>
          <p:cNvSpPr/>
          <p:nvPr/>
        </p:nvSpPr>
        <p:spPr>
          <a:xfrm>
            <a:off x="8083296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1" name="Operational Viability head"/>
          <p:cNvSpPr txBox="1"/>
          <p:nvPr/>
        </p:nvSpPr>
        <p:spPr>
          <a:xfrm>
            <a:off x="8357616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VIABILITY</a:t>
            </a:r>
            <a:endParaRPr lang="en-US" sz="1500" dirty="0"/>
          </a:p>
        </p:txBody>
      </p:sp>
      <p:sp>
        <p:nvSpPr>
          <p:cNvPr id="12" name="Operational Viability body"/>
          <p:cNvSpPr txBox="1"/>
          <p:nvPr/>
        </p:nvSpPr>
        <p:spPr>
          <a:xfrm>
            <a:off x="8357616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environment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and challenges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to overcome them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BENEFITS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|  Team ID</a:t>
            </a:r>
            <a:endParaRPr lang="en-US" sz="1200" dirty="0"/>
          </a:p>
        </p:txBody>
      </p:sp>
      <p:sp>
        <p:nvSpPr>
          <p:cNvPr id="4" name="Social Impact card"/>
          <p:cNvSpPr/>
          <p:nvPr/>
        </p:nvSpPr>
        <p:spPr>
          <a:xfrm>
            <a:off x="457200" y="1691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Social Impact badge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ocial Impact head"/>
          <p:cNvSpPr txBox="1"/>
          <p:nvPr/>
        </p:nvSpPr>
        <p:spPr>
          <a:xfrm>
            <a:off x="1554480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IMPACT</a:t>
            </a:r>
            <a:endParaRPr lang="en-US" sz="1500" dirty="0"/>
          </a:p>
        </p:txBody>
      </p:sp>
      <p:sp>
        <p:nvSpPr>
          <p:cNvPr id="8" name="Social Impact body"/>
          <p:cNvSpPr txBox="1"/>
          <p:nvPr/>
        </p:nvSpPr>
        <p:spPr>
          <a:xfrm>
            <a:off x="1554480" y="2514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and how. Add 2–3 crisp points.</a:t>
            </a:r>
            <a:endParaRPr lang="en-US" sz="1400" dirty="0"/>
          </a:p>
        </p:txBody>
      </p:sp>
      <p:sp>
        <p:nvSpPr>
          <p:cNvPr id="9" name="Environmental Impact card"/>
          <p:cNvSpPr/>
          <p:nvPr/>
        </p:nvSpPr>
        <p:spPr>
          <a:xfrm>
            <a:off x="6099048" y="1691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0" name="Environmental Impact badge"/>
          <p:cNvSpPr/>
          <p:nvPr/>
        </p:nvSpPr>
        <p:spPr>
          <a:xfrm>
            <a:off x="6373368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7336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Environmental Impact head"/>
          <p:cNvSpPr txBox="1"/>
          <p:nvPr/>
        </p:nvSpPr>
        <p:spPr>
          <a:xfrm>
            <a:off x="7196328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IMPACT</a:t>
            </a:r>
            <a:endParaRPr lang="en-US" sz="1500" dirty="0"/>
          </a:p>
        </p:txBody>
      </p:sp>
      <p:sp>
        <p:nvSpPr>
          <p:cNvPr id="13" name="Environmental Impact body"/>
          <p:cNvSpPr txBox="1"/>
          <p:nvPr/>
        </p:nvSpPr>
        <p:spPr>
          <a:xfrm>
            <a:off x="7196328" y="2514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gains. Add 2–3 crisp points.</a:t>
            </a:r>
            <a:endParaRPr lang="en-US" sz="1400" dirty="0"/>
          </a:p>
        </p:txBody>
      </p:sp>
      <p:sp>
        <p:nvSpPr>
          <p:cNvPr id="14" name="Technical Impact card"/>
          <p:cNvSpPr/>
          <p:nvPr/>
        </p:nvSpPr>
        <p:spPr>
          <a:xfrm>
            <a:off x="457200" y="3977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5" name="Technical Impact badge"/>
          <p:cNvSpPr/>
          <p:nvPr/>
        </p:nvSpPr>
        <p:spPr>
          <a:xfrm>
            <a:off x="731520" y="4251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chnical Impact head"/>
          <p:cNvSpPr txBox="1"/>
          <p:nvPr/>
        </p:nvSpPr>
        <p:spPr>
          <a:xfrm>
            <a:off x="1554480" y="4343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IMPACT</a:t>
            </a:r>
            <a:endParaRPr lang="en-US" sz="1500" dirty="0"/>
          </a:p>
        </p:txBody>
      </p:sp>
      <p:sp>
        <p:nvSpPr>
          <p:cNvPr id="18" name="Technical Impact body"/>
          <p:cNvSpPr txBox="1"/>
          <p:nvPr/>
        </p:nvSpPr>
        <p:spPr>
          <a:xfrm>
            <a:off x="1554480" y="4800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contributed. Add 2–3 crisp points.</a:t>
            </a:r>
            <a:endParaRPr lang="en-US" sz="1400" dirty="0"/>
          </a:p>
        </p:txBody>
      </p:sp>
      <p:sp>
        <p:nvSpPr>
          <p:cNvPr id="19" name="Educational Impact card"/>
          <p:cNvSpPr/>
          <p:nvPr/>
        </p:nvSpPr>
        <p:spPr>
          <a:xfrm>
            <a:off x="6099048" y="3977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20" name="Educational Impact badge"/>
          <p:cNvSpPr/>
          <p:nvPr/>
        </p:nvSpPr>
        <p:spPr>
          <a:xfrm>
            <a:off x="6373368" y="4251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73368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Educational Impact head"/>
          <p:cNvSpPr txBox="1"/>
          <p:nvPr/>
        </p:nvSpPr>
        <p:spPr>
          <a:xfrm>
            <a:off x="7196328" y="4343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IMPACT</a:t>
            </a:r>
            <a:endParaRPr lang="en-US" sz="1500" dirty="0"/>
          </a:p>
        </p:txBody>
      </p:sp>
      <p:sp>
        <p:nvSpPr>
          <p:cNvPr id="23" name="Educational Impact body"/>
          <p:cNvSpPr txBox="1"/>
          <p:nvPr/>
        </p:nvSpPr>
        <p:spPr>
          <a:xfrm>
            <a:off x="7196328" y="4800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/ awareness value. Add 2–3 crisp points.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&amp; SUSTAINABILITY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|  Team ID</a:t>
            </a:r>
            <a:endParaRPr lang="en-US" sz="1200" dirty="0"/>
          </a:p>
        </p:txBody>
      </p:sp>
      <p:sp>
        <p:nvSpPr>
          <p:cNvPr id="4" name="Users card"/>
          <p:cNvSpPr/>
          <p:nvPr/>
        </p:nvSpPr>
        <p:spPr>
          <a:xfrm>
            <a:off x="457200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Users head"/>
          <p:cNvSpPr txBox="1"/>
          <p:nvPr/>
        </p:nvSpPr>
        <p:spPr>
          <a:xfrm>
            <a:off x="73152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1500" dirty="0"/>
          </a:p>
        </p:txBody>
      </p:sp>
      <p:sp>
        <p:nvSpPr>
          <p:cNvPr id="6" name="Users body"/>
          <p:cNvSpPr txBox="1"/>
          <p:nvPr/>
        </p:nvSpPr>
        <p:spPr>
          <a:xfrm>
            <a:off x="731520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/ partners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adopters</a:t>
            </a:r>
            <a:endParaRPr lang="en-US" sz="1400" dirty="0"/>
          </a:p>
        </p:txBody>
      </p:sp>
      <p:sp>
        <p:nvSpPr>
          <p:cNvPr id="7" name="Revenue card"/>
          <p:cNvSpPr/>
          <p:nvPr/>
        </p:nvSpPr>
        <p:spPr>
          <a:xfrm>
            <a:off x="4270248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Rev head"/>
          <p:cNvSpPr txBox="1"/>
          <p:nvPr/>
        </p:nvSpPr>
        <p:spPr>
          <a:xfrm>
            <a:off x="4544568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COST MODEL</a:t>
            </a:r>
            <a:endParaRPr lang="en-US" sz="1500" dirty="0"/>
          </a:p>
        </p:txBody>
      </p:sp>
      <p:sp>
        <p:nvSpPr>
          <p:cNvPr id="9" name="Rev body"/>
          <p:cNvSpPr txBox="1"/>
          <p:nvPr/>
        </p:nvSpPr>
        <p:spPr>
          <a:xfrm>
            <a:off x="4544568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/ prototype phase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or SaaS model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growth</a:t>
            </a:r>
            <a:endParaRPr lang="en-US" sz="1400" dirty="0"/>
          </a:p>
        </p:txBody>
      </p:sp>
      <p:sp>
        <p:nvSpPr>
          <p:cNvPr id="10" name="Sustain card"/>
          <p:cNvSpPr/>
          <p:nvPr/>
        </p:nvSpPr>
        <p:spPr>
          <a:xfrm>
            <a:off x="8074152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1" name="Sus head"/>
          <p:cNvSpPr txBox="1"/>
          <p:nvPr/>
        </p:nvSpPr>
        <p:spPr>
          <a:xfrm>
            <a:off x="8348472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</a:t>
            </a:r>
            <a:endParaRPr lang="en-US" sz="1500" dirty="0"/>
          </a:p>
        </p:txBody>
      </p:sp>
      <p:sp>
        <p:nvSpPr>
          <p:cNvPr id="12" name="Sus body"/>
          <p:cNvSpPr txBox="1"/>
          <p:nvPr/>
        </p:nvSpPr>
        <p:spPr>
          <a:xfrm>
            <a:off x="8348472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expansion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/ community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|  Team ID</a:t>
            </a:r>
            <a:endParaRPr lang="en-US" sz="1200" dirty="0"/>
          </a:p>
        </p:txBody>
      </p:sp>
      <p:sp>
        <p:nvSpPr>
          <p:cNvPr id="4" name="References card"/>
          <p:cNvSpPr/>
          <p:nvPr/>
        </p:nvSpPr>
        <p:spPr>
          <a:xfrm>
            <a:off x="457200" y="1691640"/>
            <a:ext cx="11274552" cy="4434840"/>
          </a:xfrm>
          <a:prstGeom prst="roundRect">
            <a:avLst>
              <a:gd name="adj" fmla="val 2474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Ref head"/>
          <p:cNvSpPr txBox="1"/>
          <p:nvPr/>
        </p:nvSpPr>
        <p:spPr>
          <a:xfrm>
            <a:off x="731520" y="1874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TECH &amp; RESEARCH SOURCES</a:t>
            </a:r>
            <a:endParaRPr lang="en-US" sz="1500" dirty="0"/>
          </a:p>
        </p:txBody>
      </p:sp>
      <p:sp>
        <p:nvSpPr>
          <p:cNvPr id="6" name="Ref body"/>
          <p:cNvSpPr txBox="1"/>
          <p:nvPr/>
        </p:nvSpPr>
        <p:spPr>
          <a:xfrm>
            <a:off x="731520" y="2377440"/>
            <a:ext cx="10698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/ standard used and its source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paper, report or case study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studied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and links (APIs, libraries, datasets)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YPNEXIS 26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4754880" cy="216377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297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|  Team ID  |  Contact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/ AN / IMPACT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ypnexis">
  <a:themeElements>
    <a:clrScheme name="Hypnexis">
      <a:dk1>
        <a:srgbClr val="040A20"/>
      </a:dk1>
      <a:lt1>
        <a:srgbClr val="FFFFFF"/>
      </a:lt1>
      <a:dk2>
        <a:srgbClr val="0B1A4A"/>
      </a:dk2>
      <a:lt2>
        <a:srgbClr val="CFE0FF"/>
      </a:lt2>
      <a:accent1>
        <a:srgbClr val="1E5BFF"/>
      </a:accent1>
      <a:accent2>
        <a:srgbClr val="4DA3FF"/>
      </a:accent2>
      <a:accent3>
        <a:srgbClr val="0A2A8F"/>
      </a:accent3>
      <a:accent4>
        <a:srgbClr val="9CC4FF"/>
      </a:accent4>
      <a:accent5>
        <a:srgbClr val="6C8CFF"/>
      </a:accent5>
      <a:accent6>
        <a:srgbClr val="00C2FF"/>
      </a:accent6>
      <a:hlink>
        <a:srgbClr val="4DA3FF"/>
      </a:hlink>
      <a:folHlink>
        <a:srgbClr val="9CC4FF"/>
      </a:folHlink>
    </a:clrScheme>
    <a:fontScheme name="Hypnexi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442</Words>
  <Application>Microsoft Office PowerPoint</Application>
  <PresentationFormat>Widescreen</PresentationFormat>
  <Paragraphs>126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Hypnexis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HYPNEXIS 26 - Official Idea Presentation Template</dc:title>
  <dc:subject>PptxGenJS Presentation</dc:subject>
  <dc:creator>PptxGenJS</dc:creator>
  <cp:lastModifiedBy>G.GIGI 2005</cp:lastModifiedBy>
  <cp:revision>1</cp:revision>
  <dcterms:created xsi:type="dcterms:W3CDTF">2026-10-24T10:35:26Z</dcterms:created>
  <dcterms:modified xsi:type="dcterms:W3CDTF">2026-10-24T16:49:17Z</dcterms:modified>
</cp:coreProperties>
</file>